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388" r:id="rId5"/>
  </p:sldIdLst>
  <p:sldSz cx="6858000" cy="9144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0" d="100"/>
          <a:sy n="90" d="100"/>
        </p:scale>
        <p:origin x="2862" y="108"/>
      </p:cViewPr>
      <p:guideLst>
        <p:guide orient="horz" pos="288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presProps" Target="presProps.xml"/><Relationship Id="rId5" Type="http://schemas.openxmlformats.org/officeDocument/2006/relationships/slide" Target="slides/slide1.xml"/><Relationship Id="rId4" Type="http://schemas.openxmlformats.org/officeDocument/2006/relationships/slideMaster" Target="slideMasters/slideMaster1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514350" y="2840568"/>
            <a:ext cx="5829300" cy="196003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028700" y="5181600"/>
            <a:ext cx="4800600" cy="23368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0E9469-B445-476D-AF15-2601D0D1FEDA}" type="datetimeFigureOut">
              <a:rPr lang="ko-KR" altLang="en-US" smtClean="0"/>
              <a:t>2026-02-10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D7611F-ED2C-47DE-89BF-80B5CF0BDA9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160623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0E9469-B445-476D-AF15-2601D0D1FEDA}" type="datetimeFigureOut">
              <a:rPr lang="ko-KR" altLang="en-US" smtClean="0"/>
              <a:t>2026-02-10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D7611F-ED2C-47DE-89BF-80B5CF0BDA9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69360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41735" y="5875867"/>
            <a:ext cx="5829300" cy="181610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541735" y="3875618"/>
            <a:ext cx="5829300" cy="2000249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0E9469-B445-476D-AF15-2601D0D1FEDA}" type="datetimeFigureOut">
              <a:rPr lang="ko-KR" altLang="en-US" smtClean="0"/>
              <a:t>2026-02-10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D7611F-ED2C-47DE-89BF-80B5CF0BDA9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696542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342900" y="2133601"/>
            <a:ext cx="3028950" cy="603461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3486150" y="2133601"/>
            <a:ext cx="3028950" cy="603461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0E9469-B445-476D-AF15-2601D0D1FEDA}" type="datetimeFigureOut">
              <a:rPr lang="ko-KR" altLang="en-US" smtClean="0"/>
              <a:t>2026-02-10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D7611F-ED2C-47DE-89BF-80B5CF0BDA9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88344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046817"/>
            <a:ext cx="303014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342900" y="2899833"/>
            <a:ext cx="303014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3483769" y="2046817"/>
            <a:ext cx="303133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3483769" y="2899833"/>
            <a:ext cx="303133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0E9469-B445-476D-AF15-2601D0D1FEDA}" type="datetimeFigureOut">
              <a:rPr lang="ko-KR" altLang="en-US" smtClean="0"/>
              <a:t>2026-02-10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D7611F-ED2C-47DE-89BF-80B5CF0BDA9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0247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0E9469-B445-476D-AF15-2601D0D1FEDA}" type="datetimeFigureOut">
              <a:rPr lang="ko-KR" altLang="en-US" smtClean="0"/>
              <a:t>2026-02-10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D7611F-ED2C-47DE-89BF-80B5CF0BDA9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884196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0E9469-B445-476D-AF15-2601D0D1FEDA}" type="datetimeFigureOut">
              <a:rPr lang="ko-KR" altLang="en-US" smtClean="0"/>
              <a:t>2026-02-10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D7611F-ED2C-47DE-89BF-80B5CF0BDA9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795704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4067"/>
            <a:ext cx="2256235" cy="154940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681287" y="364067"/>
            <a:ext cx="3833813" cy="7804151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342900" y="1913467"/>
            <a:ext cx="2256235" cy="625475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0E9469-B445-476D-AF15-2601D0D1FEDA}" type="datetimeFigureOut">
              <a:rPr lang="ko-KR" altLang="en-US" smtClean="0"/>
              <a:t>2026-02-10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D7611F-ED2C-47DE-89BF-80B5CF0BDA9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608613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344216" y="6400800"/>
            <a:ext cx="4114800" cy="7556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344216" y="817033"/>
            <a:ext cx="4114800" cy="54864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344216" y="7156451"/>
            <a:ext cx="4114800" cy="107314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0E9469-B445-476D-AF15-2601D0D1FEDA}" type="datetimeFigureOut">
              <a:rPr lang="ko-KR" altLang="en-US" smtClean="0"/>
              <a:t>2026-02-10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D7611F-ED2C-47DE-89BF-80B5CF0BDA9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42060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0E9469-B445-476D-AF15-2601D0D1FEDA}" type="datetimeFigureOut">
              <a:rPr lang="ko-KR" altLang="en-US" smtClean="0"/>
              <a:t>2026-02-10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D7611F-ED2C-47DE-89BF-80B5CF0BDA9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547461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4972050" y="366185"/>
            <a:ext cx="1543050" cy="7802033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342900" y="366185"/>
            <a:ext cx="4514850" cy="7802033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0E9469-B445-476D-AF15-2601D0D1FEDA}" type="datetimeFigureOut">
              <a:rPr lang="ko-KR" altLang="en-US" smtClean="0"/>
              <a:t>2026-02-10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D7611F-ED2C-47DE-89BF-80B5CF0BDA9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227086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133601"/>
            <a:ext cx="6172200" cy="60346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342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40E9469-B445-476D-AF15-2601D0D1FEDA}" type="datetimeFigureOut">
              <a:rPr lang="ko-KR" altLang="en-US" smtClean="0"/>
              <a:t>2026-02-10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2343150" y="8475134"/>
            <a:ext cx="21717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4914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8D7611F-ED2C-47DE-89BF-80B5CF0BDA9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384221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jpeg"/><Relationship Id="rId5" Type="http://schemas.openxmlformats.org/officeDocument/2006/relationships/image" Target="../media/image4.jpeg"/><Relationship Id="rId4" Type="http://schemas.openxmlformats.org/officeDocument/2006/relationships/image" Target="../media/image3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AA304D-05E1-44AE-2DD4-5700A00ED7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그림 16" descr="음료, 음식, 알코올, 유리병이(가) 표시된 사진&#10;&#10;자동 생성된 설명">
            <a:extLst>
              <a:ext uri="{FF2B5EF4-FFF2-40B4-BE49-F238E27FC236}">
                <a16:creationId xmlns:a16="http://schemas.microsoft.com/office/drawing/2014/main" id="{6F699374-F55D-B380-F4AA-85D201FBF88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355" r="31420"/>
          <a:stretch>
            <a:fillRect/>
          </a:stretch>
        </p:blipFill>
        <p:spPr>
          <a:xfrm>
            <a:off x="0" y="1479755"/>
            <a:ext cx="1944339" cy="7065661"/>
          </a:xfrm>
          <a:prstGeom prst="rect">
            <a:avLst/>
          </a:prstGeom>
        </p:spPr>
      </p:pic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53F41F29-32B1-D63B-2B69-A6CB8A96792F}"/>
              </a:ext>
            </a:extLst>
          </p:cNvPr>
          <p:cNvCxnSpPr/>
          <p:nvPr/>
        </p:nvCxnSpPr>
        <p:spPr>
          <a:xfrm flipH="1">
            <a:off x="188640" y="764704"/>
            <a:ext cx="6480720" cy="11832"/>
          </a:xfrm>
          <a:prstGeom prst="line">
            <a:avLst/>
          </a:prstGeom>
          <a:ln w="6350">
            <a:prstDash val="soli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106577ED-41BE-A55E-E86B-74D4BD1CAF6B}"/>
              </a:ext>
            </a:extLst>
          </p:cNvPr>
          <p:cNvSpPr txBox="1"/>
          <p:nvPr/>
        </p:nvSpPr>
        <p:spPr>
          <a:xfrm>
            <a:off x="1937578" y="989771"/>
            <a:ext cx="3852406" cy="5719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000"/>
              </a:lnSpc>
            </a:pPr>
            <a:r>
              <a:rPr lang="ko-KR" altLang="en-US" sz="1450" dirty="0" err="1">
                <a:latin typeface="제주고딕" pitchFamily="2" charset="-127"/>
                <a:ea typeface="제주고딕" pitchFamily="2" charset="-127"/>
              </a:rPr>
              <a:t>샤블리</a:t>
            </a:r>
            <a:r>
              <a:rPr lang="ko-KR" altLang="en-US" sz="1450" dirty="0">
                <a:latin typeface="제주고딕" pitchFamily="2" charset="-127"/>
                <a:ea typeface="제주고딕" pitchFamily="2" charset="-127"/>
              </a:rPr>
              <a:t> </a:t>
            </a:r>
            <a:r>
              <a:rPr lang="en-US" altLang="ko-KR" sz="1450" dirty="0">
                <a:latin typeface="제주고딕" pitchFamily="2" charset="-127"/>
                <a:ea typeface="제주고딕" pitchFamily="2" charset="-127"/>
              </a:rPr>
              <a:t>45</a:t>
            </a:r>
            <a:r>
              <a:rPr lang="ko-KR" altLang="en-US" sz="1450" dirty="0">
                <a:latin typeface="제주고딕" pitchFamily="2" charset="-127"/>
                <a:ea typeface="제주고딕" pitchFamily="2" charset="-127"/>
              </a:rPr>
              <a:t>도 </a:t>
            </a:r>
            <a:r>
              <a:rPr lang="en-US" altLang="ko-KR" sz="1450" dirty="0">
                <a:latin typeface="제주고딕" pitchFamily="2" charset="-127"/>
                <a:ea typeface="제주고딕" pitchFamily="2" charset="-127"/>
              </a:rPr>
              <a:t>2020</a:t>
            </a:r>
            <a:endParaRPr lang="ko-KR" altLang="en-US" sz="1450" dirty="0">
              <a:latin typeface="제주고딕" pitchFamily="2" charset="-127"/>
              <a:ea typeface="제주고딕" pitchFamily="2" charset="-127"/>
            </a:endParaRPr>
          </a:p>
          <a:p>
            <a:pPr>
              <a:lnSpc>
                <a:spcPts val="2000"/>
              </a:lnSpc>
            </a:pPr>
            <a:r>
              <a:rPr lang="it-IT" altLang="ko-KR" sz="1100" b="1" i="1" dirty="0">
                <a:latin typeface="Noto Sans KR" pitchFamily="34" charset="-127"/>
                <a:ea typeface="Noto Sans KR" pitchFamily="34" charset="-127"/>
              </a:rPr>
              <a:t>Chablis 45 </a:t>
            </a:r>
            <a:r>
              <a:rPr lang="en-US" altLang="ko-KR" sz="1100" b="1" i="1" dirty="0">
                <a:latin typeface="Noto Sans KR" pitchFamily="34" charset="-127"/>
                <a:ea typeface="Noto Sans KR" pitchFamily="34" charset="-127"/>
              </a:rPr>
              <a:t>degrees</a:t>
            </a:r>
            <a:r>
              <a:rPr lang="ko-KR" altLang="en-US" sz="1100" b="1" i="1" dirty="0">
                <a:latin typeface="Noto Sans KR" pitchFamily="34" charset="-127"/>
                <a:ea typeface="Noto Sans KR" pitchFamily="34" charset="-127"/>
              </a:rPr>
              <a:t> </a:t>
            </a:r>
            <a:r>
              <a:rPr lang="it-IT" altLang="ko-KR" sz="1100" b="1" i="1" dirty="0">
                <a:latin typeface="Noto Sans KR" pitchFamily="34" charset="-127"/>
                <a:ea typeface="Noto Sans KR" pitchFamily="34" charset="-127"/>
              </a:rPr>
              <a:t>2020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7E95BF0-993F-FEBB-2BC6-4D70F6DC54F4}"/>
              </a:ext>
            </a:extLst>
          </p:cNvPr>
          <p:cNvSpPr txBox="1"/>
          <p:nvPr/>
        </p:nvSpPr>
        <p:spPr>
          <a:xfrm>
            <a:off x="1923046" y="1767658"/>
            <a:ext cx="46679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100" b="1" dirty="0"/>
              <a:t>지역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01E0BDF-A7CA-6B9F-5D74-CDB93D34F4CB}"/>
              </a:ext>
            </a:extLst>
          </p:cNvPr>
          <p:cNvSpPr txBox="1"/>
          <p:nvPr/>
        </p:nvSpPr>
        <p:spPr>
          <a:xfrm>
            <a:off x="1916832" y="1949515"/>
            <a:ext cx="387315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latin typeface="제주고딕" pitchFamily="2" charset="-127"/>
                <a:ea typeface="제주고딕" pitchFamily="2" charset="-127"/>
              </a:rPr>
              <a:t>France, Bourgogne, Chablis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52552EA-2DD6-48B3-A866-3244E537D9FD}"/>
              </a:ext>
            </a:extLst>
          </p:cNvPr>
          <p:cNvSpPr txBox="1"/>
          <p:nvPr/>
        </p:nvSpPr>
        <p:spPr>
          <a:xfrm>
            <a:off x="1937578" y="2212241"/>
            <a:ext cx="46679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100" b="1"/>
              <a:t>품종</a:t>
            </a:r>
            <a:endParaRPr lang="ko-KR" altLang="en-US" sz="1100" b="1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0BEA86B-7B1C-97C5-FAC6-309EE641F472}"/>
              </a:ext>
            </a:extLst>
          </p:cNvPr>
          <p:cNvSpPr txBox="1"/>
          <p:nvPr/>
        </p:nvSpPr>
        <p:spPr>
          <a:xfrm>
            <a:off x="1937578" y="2478088"/>
            <a:ext cx="396044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spc="-30" dirty="0">
                <a:solidFill>
                  <a:schemeClr val="tx1">
                    <a:lumMod val="95000"/>
                    <a:lumOff val="5000"/>
                  </a:schemeClr>
                </a:solidFill>
                <a:latin typeface="제주고딕" pitchFamily="2" charset="-127"/>
                <a:ea typeface="제주고딕" pitchFamily="2" charset="-127"/>
              </a:rPr>
              <a:t>Chardonnay</a:t>
            </a:r>
            <a:endParaRPr lang="fr-FR" altLang="ko-KR" sz="1000" spc="-30" dirty="0">
              <a:solidFill>
                <a:schemeClr val="tx1">
                  <a:lumMod val="95000"/>
                  <a:lumOff val="5000"/>
                </a:schemeClr>
              </a:solidFill>
              <a:latin typeface="제주고딕" pitchFamily="2" charset="-127"/>
              <a:ea typeface="제주고딕" pitchFamily="2" charset="-127"/>
            </a:endParaRPr>
          </a:p>
        </p:txBody>
      </p:sp>
      <p:cxnSp>
        <p:nvCxnSpPr>
          <p:cNvPr id="15" name="직선 연결선 14">
            <a:extLst>
              <a:ext uri="{FF2B5EF4-FFF2-40B4-BE49-F238E27FC236}">
                <a16:creationId xmlns:a16="http://schemas.microsoft.com/office/drawing/2014/main" id="{64256C1F-AC3D-8375-9BF0-787D6D87A6F4}"/>
              </a:ext>
            </a:extLst>
          </p:cNvPr>
          <p:cNvCxnSpPr/>
          <p:nvPr/>
        </p:nvCxnSpPr>
        <p:spPr>
          <a:xfrm>
            <a:off x="2006495" y="1667073"/>
            <a:ext cx="2997701" cy="0"/>
          </a:xfrm>
          <a:prstGeom prst="line">
            <a:avLst/>
          </a:prstGeom>
          <a:ln w="19050">
            <a:prstDash val="sysDot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3" name="직사각형 52">
            <a:extLst>
              <a:ext uri="{FF2B5EF4-FFF2-40B4-BE49-F238E27FC236}">
                <a16:creationId xmlns:a16="http://schemas.microsoft.com/office/drawing/2014/main" id="{DB97BCA8-6132-A856-3560-99D8A9824B60}"/>
              </a:ext>
            </a:extLst>
          </p:cNvPr>
          <p:cNvSpPr/>
          <p:nvPr/>
        </p:nvSpPr>
        <p:spPr>
          <a:xfrm>
            <a:off x="1021497" y="8877513"/>
            <a:ext cx="2524089" cy="215444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defRPr/>
            </a:pPr>
            <a:r>
              <a:rPr lang="ko-KR" altLang="en-US" sz="800" spc="50" dirty="0">
                <a:latin typeface="제주고딕" pitchFamily="2" charset="-127"/>
                <a:ea typeface="제주고딕" pitchFamily="2" charset="-127"/>
              </a:rPr>
              <a:t>㈜</a:t>
            </a:r>
            <a:r>
              <a:rPr lang="ko-KR" altLang="en-US" sz="750" spc="50" dirty="0">
                <a:latin typeface="제주고딕" pitchFamily="2" charset="-127"/>
                <a:ea typeface="제주고딕" pitchFamily="2" charset="-127"/>
              </a:rPr>
              <a:t>까브드뱅</a:t>
            </a:r>
            <a:r>
              <a:rPr lang="en-US" altLang="ko-KR" sz="750" spc="50" dirty="0">
                <a:latin typeface="제주고딕" pitchFamily="2" charset="-127"/>
                <a:ea typeface="제주고딕" pitchFamily="2" charset="-127"/>
              </a:rPr>
              <a:t>   </a:t>
            </a:r>
            <a:r>
              <a:rPr lang="en-US" altLang="ko-KR" sz="750" spc="-30" dirty="0">
                <a:latin typeface="제주고딕" pitchFamily="2" charset="-127"/>
                <a:ea typeface="제주고딕" pitchFamily="2" charset="-127"/>
              </a:rPr>
              <a:t>T. 02-786-3136 </a:t>
            </a:r>
            <a:r>
              <a:rPr lang="en-US" altLang="ko-KR" sz="750" dirty="0">
                <a:latin typeface="제주고딕" pitchFamily="2" charset="-127"/>
                <a:ea typeface="제주고딕" pitchFamily="2" charset="-127"/>
              </a:rPr>
              <a:t>|  </a:t>
            </a:r>
            <a:r>
              <a:rPr lang="en-US" altLang="ko-KR" sz="750" spc="20" dirty="0">
                <a:latin typeface="제주고딕" pitchFamily="2" charset="-127"/>
                <a:ea typeface="제주고딕" pitchFamily="2" charset="-127"/>
              </a:rPr>
              <a:t>www.cavedevin.co.kr</a:t>
            </a:r>
            <a:endParaRPr lang="ko-KR" altLang="en-US" sz="750" u="sng" spc="20" dirty="0">
              <a:latin typeface="제주고딕" pitchFamily="2" charset="-127"/>
              <a:ea typeface="제주고딕" pitchFamily="2" charset="-127"/>
            </a:endParaRPr>
          </a:p>
        </p:txBody>
      </p:sp>
      <p:pic>
        <p:nvPicPr>
          <p:cNvPr id="54" name="Picture 5" descr="D:\CAVEDEVIN\Logo\회사로고\cavedevin_logo_en_color.png">
            <a:extLst>
              <a:ext uri="{FF2B5EF4-FFF2-40B4-BE49-F238E27FC236}">
                <a16:creationId xmlns:a16="http://schemas.microsoft.com/office/drawing/2014/main" id="{C07005E5-9D32-C717-EA4C-C4F8A0C2A4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tretch>
            <a:fillRect/>
          </a:stretch>
        </p:blipFill>
        <p:spPr bwMode="auto">
          <a:xfrm>
            <a:off x="79868" y="8872429"/>
            <a:ext cx="871958" cy="225611"/>
          </a:xfrm>
          <a:prstGeom prst="rect">
            <a:avLst/>
          </a:prstGeom>
          <a:noFill/>
        </p:spPr>
      </p:pic>
      <p:cxnSp>
        <p:nvCxnSpPr>
          <p:cNvPr id="67" name="직선 연결선 66">
            <a:extLst>
              <a:ext uri="{FF2B5EF4-FFF2-40B4-BE49-F238E27FC236}">
                <a16:creationId xmlns:a16="http://schemas.microsoft.com/office/drawing/2014/main" id="{D4772E0D-423F-F2F3-D96B-EEC5DAA4411F}"/>
              </a:ext>
            </a:extLst>
          </p:cNvPr>
          <p:cNvCxnSpPr/>
          <p:nvPr/>
        </p:nvCxnSpPr>
        <p:spPr>
          <a:xfrm>
            <a:off x="235323" y="8282727"/>
            <a:ext cx="6480720" cy="0"/>
          </a:xfrm>
          <a:prstGeom prst="line">
            <a:avLst/>
          </a:prstGeom>
          <a:ln w="19050">
            <a:solidFill>
              <a:schemeClr val="tx1">
                <a:lumMod val="75000"/>
                <a:lumOff val="25000"/>
              </a:schemeClr>
            </a:solidFill>
            <a:prstDash val="sysDot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8" name="직선 연결선 67">
            <a:extLst>
              <a:ext uri="{FF2B5EF4-FFF2-40B4-BE49-F238E27FC236}">
                <a16:creationId xmlns:a16="http://schemas.microsoft.com/office/drawing/2014/main" id="{9CAE65CB-BEFF-0F23-BFB1-36EEAC85ADC6}"/>
              </a:ext>
            </a:extLst>
          </p:cNvPr>
          <p:cNvCxnSpPr/>
          <p:nvPr/>
        </p:nvCxnSpPr>
        <p:spPr>
          <a:xfrm>
            <a:off x="189377" y="8707865"/>
            <a:ext cx="6480720" cy="0"/>
          </a:xfrm>
          <a:prstGeom prst="line">
            <a:avLst/>
          </a:prstGeom>
          <a:ln w="381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1" name="TextBox 70">
            <a:extLst>
              <a:ext uri="{FF2B5EF4-FFF2-40B4-BE49-F238E27FC236}">
                <a16:creationId xmlns:a16="http://schemas.microsoft.com/office/drawing/2014/main" id="{6FFCE187-7F09-05E7-A844-BD345CE02E40}"/>
              </a:ext>
            </a:extLst>
          </p:cNvPr>
          <p:cNvSpPr txBox="1"/>
          <p:nvPr/>
        </p:nvSpPr>
        <p:spPr>
          <a:xfrm>
            <a:off x="467798" y="8352024"/>
            <a:ext cx="70150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>
                <a:latin typeface="제주고딕" pitchFamily="2" charset="-127"/>
                <a:ea typeface="제주고딕" pitchFamily="2" charset="-127"/>
              </a:rPr>
              <a:t>수상내역 </a:t>
            </a:r>
          </a:p>
        </p:txBody>
      </p:sp>
      <p:pic>
        <p:nvPicPr>
          <p:cNvPr id="72" name="Picture 10" descr="Award Icons - Free Download, PNG and SVG">
            <a:extLst>
              <a:ext uri="{FF2B5EF4-FFF2-40B4-BE49-F238E27FC236}">
                <a16:creationId xmlns:a16="http://schemas.microsoft.com/office/drawing/2014/main" id="{EA5FC267-7BCA-5032-852B-8B4661DF9BF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248" t="21371" r="27991" b="27161"/>
          <a:stretch/>
        </p:blipFill>
        <p:spPr bwMode="auto">
          <a:xfrm>
            <a:off x="270093" y="8352024"/>
            <a:ext cx="179128" cy="2321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F795530-5D97-331A-C8B7-6E602BCE1217}"/>
              </a:ext>
            </a:extLst>
          </p:cNvPr>
          <p:cNvSpPr txBox="1"/>
          <p:nvPr/>
        </p:nvSpPr>
        <p:spPr>
          <a:xfrm>
            <a:off x="1958772" y="3488527"/>
            <a:ext cx="46679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100" b="1" dirty="0"/>
              <a:t>양조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06573825-8D47-967A-F8A0-92035322B6CB}"/>
              </a:ext>
            </a:extLst>
          </p:cNvPr>
          <p:cNvSpPr txBox="1"/>
          <p:nvPr/>
        </p:nvSpPr>
        <p:spPr>
          <a:xfrm>
            <a:off x="1916832" y="5148064"/>
            <a:ext cx="108074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100" b="1" dirty="0" err="1"/>
              <a:t>테이스팅</a:t>
            </a:r>
            <a:r>
              <a:rPr lang="ko-KR" altLang="en-US" sz="1100" b="1" dirty="0"/>
              <a:t> 노트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C719A2C9-9419-EEB0-79A4-74A6FE26049C}"/>
              </a:ext>
            </a:extLst>
          </p:cNvPr>
          <p:cNvSpPr txBox="1"/>
          <p:nvPr/>
        </p:nvSpPr>
        <p:spPr>
          <a:xfrm>
            <a:off x="1943203" y="7044666"/>
            <a:ext cx="479816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dirty="0">
                <a:latin typeface="제주고딕" pitchFamily="2" charset="-127"/>
                <a:ea typeface="제주고딕" pitchFamily="2" charset="-127"/>
              </a:rPr>
              <a:t>샴페인 </a:t>
            </a:r>
            <a:r>
              <a:rPr lang="ko-KR" altLang="en-US" sz="900" dirty="0" err="1">
                <a:latin typeface="제주고딕" pitchFamily="2" charset="-127"/>
                <a:ea typeface="제주고딕" pitchFamily="2" charset="-127"/>
              </a:rPr>
              <a:t>비나그렛을</a:t>
            </a:r>
            <a:r>
              <a:rPr lang="ko-KR" altLang="en-US" sz="900" dirty="0">
                <a:latin typeface="제주고딕" pitchFamily="2" charset="-127"/>
                <a:ea typeface="제주고딕" pitchFamily="2" charset="-127"/>
              </a:rPr>
              <a:t> 곁들인 굴</a:t>
            </a:r>
            <a:r>
              <a:rPr lang="en-US" altLang="ko-KR" sz="900" dirty="0">
                <a:latin typeface="제주고딕" pitchFamily="2" charset="-127"/>
                <a:ea typeface="제주고딕" pitchFamily="2" charset="-127"/>
              </a:rPr>
              <a:t>, </a:t>
            </a:r>
            <a:r>
              <a:rPr lang="ko-KR" altLang="en-US" sz="900" dirty="0" err="1">
                <a:latin typeface="제주고딕" pitchFamily="2" charset="-127"/>
                <a:ea typeface="제주고딕" pitchFamily="2" charset="-127"/>
              </a:rPr>
              <a:t>광어회</a:t>
            </a:r>
            <a:r>
              <a:rPr lang="en-US" altLang="ko-KR" sz="900" dirty="0">
                <a:latin typeface="제주고딕" pitchFamily="2" charset="-127"/>
                <a:ea typeface="제주고딕" pitchFamily="2" charset="-127"/>
              </a:rPr>
              <a:t>, </a:t>
            </a:r>
            <a:r>
              <a:rPr lang="ko-KR" altLang="en-US" sz="900" dirty="0">
                <a:latin typeface="제주고딕" pitchFamily="2" charset="-127"/>
                <a:ea typeface="제주고딕" pitchFamily="2" charset="-127"/>
              </a:rPr>
              <a:t>메밀 </a:t>
            </a:r>
            <a:r>
              <a:rPr lang="ko-KR" altLang="en-US" sz="900" dirty="0" err="1">
                <a:latin typeface="제주고딕" pitchFamily="2" charset="-127"/>
                <a:ea typeface="제주고딕" pitchFamily="2" charset="-127"/>
              </a:rPr>
              <a:t>소바</a:t>
            </a:r>
            <a:r>
              <a:rPr lang="en-US" altLang="ko-KR" sz="900" dirty="0">
                <a:latin typeface="제주고딕" pitchFamily="2" charset="-127"/>
                <a:ea typeface="제주고딕" pitchFamily="2" charset="-127"/>
              </a:rPr>
              <a:t>, </a:t>
            </a:r>
            <a:r>
              <a:rPr lang="ko-KR" altLang="en-US" sz="900" dirty="0">
                <a:latin typeface="제주고딕" pitchFamily="2" charset="-127"/>
                <a:ea typeface="제주고딕" pitchFamily="2" charset="-127"/>
              </a:rPr>
              <a:t>멜론과 </a:t>
            </a:r>
            <a:r>
              <a:rPr lang="ko-KR" altLang="en-US" sz="900" dirty="0" err="1">
                <a:latin typeface="제주고딕" pitchFamily="2" charset="-127"/>
                <a:ea typeface="제주고딕" pitchFamily="2" charset="-127"/>
              </a:rPr>
              <a:t>하몽</a:t>
            </a:r>
            <a:r>
              <a:rPr lang="en-US" altLang="ko-KR" sz="900" dirty="0">
                <a:latin typeface="제주고딕" pitchFamily="2" charset="-127"/>
                <a:ea typeface="제주고딕" pitchFamily="2" charset="-127"/>
              </a:rPr>
              <a:t>, </a:t>
            </a:r>
            <a:r>
              <a:rPr lang="ko-KR" altLang="en-US" sz="900" dirty="0">
                <a:latin typeface="제주고딕" pitchFamily="2" charset="-127"/>
                <a:ea typeface="제주고딕" pitchFamily="2" charset="-127"/>
              </a:rPr>
              <a:t>뮌스터 치즈</a:t>
            </a:r>
            <a:endParaRPr lang="en-US" altLang="ko-KR" sz="900" dirty="0">
              <a:latin typeface="제주고딕" pitchFamily="2" charset="-127"/>
              <a:ea typeface="제주고딕" pitchFamily="2" charset="-127"/>
            </a:endParaRP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57E2037B-E358-E13B-7076-A64150B03F38}"/>
              </a:ext>
            </a:extLst>
          </p:cNvPr>
          <p:cNvSpPr txBox="1"/>
          <p:nvPr/>
        </p:nvSpPr>
        <p:spPr>
          <a:xfrm>
            <a:off x="1944417" y="6732240"/>
            <a:ext cx="93968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100" b="1" dirty="0" err="1"/>
              <a:t>푸드</a:t>
            </a:r>
            <a:r>
              <a:rPr lang="ko-KR" altLang="en-US" sz="1100" b="1" dirty="0"/>
              <a:t> </a:t>
            </a:r>
            <a:r>
              <a:rPr lang="ko-KR" altLang="en-US" sz="1100" b="1" dirty="0" err="1"/>
              <a:t>페어링</a:t>
            </a:r>
            <a:endParaRPr lang="ko-KR" altLang="en-US" sz="1100" b="1" dirty="0"/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FE5F3FBC-9690-7C8C-7863-AC032A53E770}"/>
              </a:ext>
            </a:extLst>
          </p:cNvPr>
          <p:cNvSpPr txBox="1"/>
          <p:nvPr/>
        </p:nvSpPr>
        <p:spPr>
          <a:xfrm>
            <a:off x="1921181" y="7453218"/>
            <a:ext cx="108074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100" b="1" dirty="0"/>
              <a:t>글라스 </a:t>
            </a:r>
            <a:r>
              <a:rPr lang="ko-KR" altLang="en-US" sz="1100" b="1" dirty="0" err="1"/>
              <a:t>페어링</a:t>
            </a:r>
            <a:endParaRPr lang="ko-KR" altLang="en-US" sz="1100" b="1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0C02D82-0028-D1EF-E933-581ED0E06111}"/>
              </a:ext>
            </a:extLst>
          </p:cNvPr>
          <p:cNvSpPr txBox="1"/>
          <p:nvPr/>
        </p:nvSpPr>
        <p:spPr>
          <a:xfrm>
            <a:off x="1944339" y="3755755"/>
            <a:ext cx="4716431" cy="1104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ko-KR" altLang="en-US" sz="900" dirty="0">
                <a:latin typeface="제주고딕" pitchFamily="2" charset="-127"/>
                <a:ea typeface="제주고딕" pitchFamily="2" charset="-127"/>
              </a:rPr>
              <a:t>특징</a:t>
            </a:r>
            <a:r>
              <a:rPr lang="en-US" altLang="ko-KR" sz="900" dirty="0">
                <a:latin typeface="제주고딕" pitchFamily="2" charset="-127"/>
                <a:ea typeface="제주고딕" pitchFamily="2" charset="-127"/>
              </a:rPr>
              <a:t>: </a:t>
            </a:r>
            <a:r>
              <a:rPr lang="ko-KR" altLang="en-US" sz="900" dirty="0">
                <a:latin typeface="제주고딕" pitchFamily="2" charset="-127"/>
                <a:ea typeface="제주고딕" pitchFamily="2" charset="-127"/>
              </a:rPr>
              <a:t>이 포도밭이 위치한 경사는 매우 가파른 </a:t>
            </a:r>
            <a:r>
              <a:rPr lang="en-US" altLang="ko-KR" sz="900" dirty="0">
                <a:latin typeface="제주고딕" pitchFamily="2" charset="-127"/>
                <a:ea typeface="제주고딕" pitchFamily="2" charset="-127"/>
              </a:rPr>
              <a:t>45</a:t>
            </a:r>
            <a:r>
              <a:rPr lang="ko-KR" altLang="en-US" sz="900" dirty="0">
                <a:latin typeface="제주고딕" pitchFamily="2" charset="-127"/>
                <a:ea typeface="제주고딕" pitchFamily="2" charset="-127"/>
              </a:rPr>
              <a:t>도이다</a:t>
            </a:r>
            <a:r>
              <a:rPr lang="en-US" altLang="ko-KR" sz="900" dirty="0">
                <a:latin typeface="제주고딕" pitchFamily="2" charset="-127"/>
                <a:ea typeface="제주고딕" pitchFamily="2" charset="-127"/>
              </a:rPr>
              <a:t>. </a:t>
            </a:r>
          </a:p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ko-KR" altLang="en-US" sz="900" dirty="0">
                <a:latin typeface="제주고딕" pitchFamily="2" charset="-127"/>
                <a:ea typeface="제주고딕" pitchFamily="2" charset="-127"/>
              </a:rPr>
              <a:t>수확</a:t>
            </a:r>
            <a:r>
              <a:rPr lang="en-US" altLang="ko-KR" sz="900" dirty="0">
                <a:latin typeface="제주고딕" pitchFamily="2" charset="-127"/>
                <a:ea typeface="제주고딕" pitchFamily="2" charset="-127"/>
              </a:rPr>
              <a:t>: 2020</a:t>
            </a:r>
            <a:r>
              <a:rPr lang="ko-KR" altLang="en-US" sz="900" dirty="0">
                <a:latin typeface="제주고딕" pitchFamily="2" charset="-127"/>
                <a:ea typeface="제주고딕" pitchFamily="2" charset="-127"/>
              </a:rPr>
              <a:t>년에 수확한 </a:t>
            </a:r>
            <a:r>
              <a:rPr lang="ko-KR" altLang="en-US" sz="900" dirty="0" err="1">
                <a:latin typeface="제주고딕" pitchFamily="2" charset="-127"/>
                <a:ea typeface="제주고딕" pitchFamily="2" charset="-127"/>
              </a:rPr>
              <a:t>올드</a:t>
            </a:r>
            <a:r>
              <a:rPr lang="ko-KR" altLang="en-US" sz="900" dirty="0">
                <a:latin typeface="제주고딕" pitchFamily="2" charset="-127"/>
                <a:ea typeface="제주고딕" pitchFamily="2" charset="-127"/>
              </a:rPr>
              <a:t> 바인 포도를 베이스로 사용했다</a:t>
            </a:r>
            <a:r>
              <a:rPr lang="en-US" altLang="ko-KR" sz="900" dirty="0">
                <a:latin typeface="제주고딕" pitchFamily="2" charset="-127"/>
                <a:ea typeface="제주고딕" pitchFamily="2" charset="-127"/>
              </a:rPr>
              <a:t>.</a:t>
            </a:r>
          </a:p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ko-KR" altLang="en-US" sz="900" dirty="0">
                <a:latin typeface="제주고딕" pitchFamily="2" charset="-127"/>
                <a:ea typeface="제주고딕" pitchFamily="2" charset="-127"/>
              </a:rPr>
              <a:t>양조</a:t>
            </a:r>
            <a:r>
              <a:rPr lang="en-US" altLang="ko-KR" sz="900" dirty="0">
                <a:latin typeface="제주고딕" pitchFamily="2" charset="-127"/>
                <a:ea typeface="제주고딕" pitchFamily="2" charset="-127"/>
              </a:rPr>
              <a:t>: </a:t>
            </a:r>
            <a:r>
              <a:rPr lang="ko-KR" altLang="en-US" sz="900" dirty="0" err="1">
                <a:latin typeface="제주고딕" pitchFamily="2" charset="-127"/>
                <a:ea typeface="제주고딕" pitchFamily="2" charset="-127"/>
              </a:rPr>
              <a:t>뉴매틱</a:t>
            </a:r>
            <a:r>
              <a:rPr lang="en-US" altLang="ko-KR" sz="900" dirty="0">
                <a:latin typeface="제주고딕" pitchFamily="2" charset="-127"/>
                <a:ea typeface="제주고딕" pitchFamily="2" charset="-127"/>
              </a:rPr>
              <a:t>(pneumatic) </a:t>
            </a:r>
            <a:r>
              <a:rPr lang="ko-KR" altLang="en-US" sz="900" dirty="0">
                <a:latin typeface="제주고딕" pitchFamily="2" charset="-127"/>
                <a:ea typeface="제주고딕" pitchFamily="2" charset="-127"/>
              </a:rPr>
              <a:t>압착 후 저온에서 부드럽게 </a:t>
            </a:r>
            <a:r>
              <a:rPr lang="ko-KR" altLang="en-US" sz="900" dirty="0" err="1">
                <a:latin typeface="제주고딕" pitchFamily="2" charset="-127"/>
                <a:ea typeface="제주고딕" pitchFamily="2" charset="-127"/>
              </a:rPr>
              <a:t>랙킹을</a:t>
            </a:r>
            <a:r>
              <a:rPr lang="ko-KR" altLang="en-US" sz="900" dirty="0">
                <a:latin typeface="제주고딕" pitchFamily="2" charset="-127"/>
                <a:ea typeface="제주고딕" pitchFamily="2" charset="-127"/>
              </a:rPr>
              <a:t> 한다</a:t>
            </a:r>
            <a:r>
              <a:rPr lang="en-US" altLang="ko-KR" sz="900" dirty="0">
                <a:latin typeface="제주고딕" pitchFamily="2" charset="-127"/>
                <a:ea typeface="제주고딕" pitchFamily="2" charset="-127"/>
              </a:rPr>
              <a:t>. </a:t>
            </a:r>
            <a:r>
              <a:rPr lang="ko-KR" altLang="en-US" sz="900" dirty="0">
                <a:latin typeface="제주고딕" pitchFamily="2" charset="-127"/>
                <a:ea typeface="제주고딕" pitchFamily="2" charset="-127"/>
              </a:rPr>
              <a:t>토착 효모로 스틸 탱크에서 발효한 뒤 </a:t>
            </a:r>
            <a:r>
              <a:rPr lang="en-US" altLang="ko-KR" sz="900" dirty="0">
                <a:latin typeface="제주고딕" pitchFamily="2" charset="-127"/>
                <a:ea typeface="제주고딕" pitchFamily="2" charset="-127"/>
              </a:rPr>
              <a:t>6</a:t>
            </a:r>
            <a:r>
              <a:rPr lang="ko-KR" altLang="en-US" sz="900" dirty="0">
                <a:latin typeface="제주고딕" pitchFamily="2" charset="-127"/>
                <a:ea typeface="제주고딕" pitchFamily="2" charset="-127"/>
              </a:rPr>
              <a:t>월까지 리</a:t>
            </a:r>
            <a:r>
              <a:rPr lang="en-US" altLang="ko-KR" sz="900" dirty="0">
                <a:latin typeface="제주고딕" pitchFamily="2" charset="-127"/>
                <a:ea typeface="제주고딕" pitchFamily="2" charset="-127"/>
              </a:rPr>
              <a:t>(lees) </a:t>
            </a:r>
            <a:r>
              <a:rPr lang="ko-KR" altLang="en-US" sz="900" dirty="0">
                <a:latin typeface="제주고딕" pitchFamily="2" charset="-127"/>
                <a:ea typeface="제주고딕" pitchFamily="2" charset="-127"/>
              </a:rPr>
              <a:t>숙성을 거친다</a:t>
            </a:r>
            <a:r>
              <a:rPr lang="en-US" altLang="ko-KR" sz="900" dirty="0">
                <a:latin typeface="제주고딕" pitchFamily="2" charset="-127"/>
                <a:ea typeface="제주고딕" pitchFamily="2" charset="-127"/>
              </a:rPr>
              <a:t>. </a:t>
            </a:r>
            <a:r>
              <a:rPr lang="ko-KR" altLang="en-US" sz="900" dirty="0">
                <a:latin typeface="제주고딕" pitchFamily="2" charset="-127"/>
                <a:ea typeface="제주고딕" pitchFamily="2" charset="-127"/>
              </a:rPr>
              <a:t>여과 없이 </a:t>
            </a:r>
            <a:r>
              <a:rPr lang="ko-KR" altLang="en-US" sz="900" dirty="0" err="1">
                <a:latin typeface="제주고딕" pitchFamily="2" charset="-127"/>
                <a:ea typeface="제주고딕" pitchFamily="2" charset="-127"/>
              </a:rPr>
              <a:t>병입했다</a:t>
            </a:r>
            <a:r>
              <a:rPr lang="en-US" altLang="ko-KR" sz="900" dirty="0">
                <a:latin typeface="제주고딕" pitchFamily="2" charset="-127"/>
                <a:ea typeface="제주고딕" pitchFamily="2" charset="-127"/>
              </a:rPr>
              <a:t>.</a:t>
            </a:r>
          </a:p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ko-KR" altLang="en-US" sz="900" dirty="0">
                <a:latin typeface="제주고딕" pitchFamily="2" charset="-127"/>
                <a:ea typeface="제주고딕" pitchFamily="2" charset="-127"/>
              </a:rPr>
              <a:t>알코올</a:t>
            </a:r>
            <a:r>
              <a:rPr lang="en-US" altLang="ko-KR" sz="900" dirty="0">
                <a:latin typeface="제주고딕" pitchFamily="2" charset="-127"/>
                <a:ea typeface="제주고딕" pitchFamily="2" charset="-127"/>
              </a:rPr>
              <a:t>: 12.4%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3397F97-348B-6C1A-D07E-5761869F89BB}"/>
              </a:ext>
            </a:extLst>
          </p:cNvPr>
          <p:cNvSpPr txBox="1"/>
          <p:nvPr/>
        </p:nvSpPr>
        <p:spPr>
          <a:xfrm>
            <a:off x="1952929" y="5359560"/>
            <a:ext cx="4716431" cy="13120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ko-KR" altLang="en-US" sz="900" dirty="0">
                <a:latin typeface="제주고딕" pitchFamily="2" charset="-127"/>
                <a:ea typeface="제주고딕" pitchFamily="2" charset="-127"/>
              </a:rPr>
              <a:t>컬러</a:t>
            </a:r>
            <a:r>
              <a:rPr lang="en-US" altLang="ko-KR" sz="900" dirty="0">
                <a:latin typeface="제주고딕" pitchFamily="2" charset="-127"/>
                <a:ea typeface="제주고딕" pitchFamily="2" charset="-127"/>
              </a:rPr>
              <a:t>: </a:t>
            </a:r>
            <a:r>
              <a:rPr lang="ko-KR" altLang="en-US" sz="900" dirty="0">
                <a:latin typeface="제주고딕" pitchFamily="2" charset="-127"/>
                <a:ea typeface="제주고딕" pitchFamily="2" charset="-127"/>
              </a:rPr>
              <a:t>옅은 볏짚 컬러</a:t>
            </a:r>
            <a:endParaRPr lang="en-US" altLang="ko-KR" sz="900" dirty="0">
              <a:latin typeface="제주고딕" pitchFamily="2" charset="-127"/>
              <a:ea typeface="제주고딕" pitchFamily="2" charset="-127"/>
            </a:endParaRPr>
          </a:p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ko-KR" altLang="en-US" sz="900" dirty="0" err="1">
                <a:latin typeface="제주고딕" pitchFamily="2" charset="-127"/>
                <a:ea typeface="제주고딕" pitchFamily="2" charset="-127"/>
              </a:rPr>
              <a:t>노즈</a:t>
            </a:r>
            <a:r>
              <a:rPr lang="en-US" altLang="ko-KR" sz="900" dirty="0">
                <a:latin typeface="제주고딕" pitchFamily="2" charset="-127"/>
                <a:ea typeface="제주고딕" pitchFamily="2" charset="-127"/>
              </a:rPr>
              <a:t>: </a:t>
            </a:r>
            <a:r>
              <a:rPr lang="ko-KR" altLang="en-US" sz="900" dirty="0">
                <a:latin typeface="제주고딕" pitchFamily="2" charset="-127"/>
                <a:ea typeface="제주고딕" pitchFamily="2" charset="-127"/>
              </a:rPr>
              <a:t>라임</a:t>
            </a:r>
            <a:r>
              <a:rPr lang="en-US" altLang="ko-KR" sz="900" dirty="0">
                <a:latin typeface="제주고딕" pitchFamily="2" charset="-127"/>
                <a:ea typeface="제주고딕" pitchFamily="2" charset="-127"/>
              </a:rPr>
              <a:t>, </a:t>
            </a:r>
            <a:r>
              <a:rPr lang="ko-KR" altLang="en-US" sz="900" dirty="0" err="1">
                <a:latin typeface="제주고딕" pitchFamily="2" charset="-127"/>
                <a:ea typeface="제주고딕" pitchFamily="2" charset="-127"/>
              </a:rPr>
              <a:t>청사과</a:t>
            </a:r>
            <a:r>
              <a:rPr lang="ko-KR" altLang="en-US" sz="900" dirty="0">
                <a:latin typeface="제주고딕" pitchFamily="2" charset="-127"/>
                <a:ea typeface="제주고딕" pitchFamily="2" charset="-127"/>
              </a:rPr>
              <a:t> 향과 더불어 부싯돌 향이 공존하는 와인이다</a:t>
            </a:r>
            <a:r>
              <a:rPr lang="en-US" altLang="ko-KR" sz="900" dirty="0">
                <a:latin typeface="제주고딕" pitchFamily="2" charset="-127"/>
                <a:ea typeface="제주고딕" pitchFamily="2" charset="-127"/>
              </a:rPr>
              <a:t>.</a:t>
            </a:r>
          </a:p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ko-KR" altLang="en-US" sz="900" dirty="0" err="1">
                <a:latin typeface="제주고딕" pitchFamily="2" charset="-127"/>
                <a:ea typeface="제주고딕" pitchFamily="2" charset="-127"/>
              </a:rPr>
              <a:t>팔렛</a:t>
            </a:r>
            <a:r>
              <a:rPr lang="en-US" altLang="ko-KR" sz="900" dirty="0">
                <a:latin typeface="제주고딕" pitchFamily="2" charset="-127"/>
                <a:ea typeface="제주고딕" pitchFamily="2" charset="-127"/>
              </a:rPr>
              <a:t>: </a:t>
            </a:r>
            <a:r>
              <a:rPr lang="ko-KR" altLang="en-US" sz="900" dirty="0" err="1">
                <a:latin typeface="제주고딕" pitchFamily="2" charset="-127"/>
                <a:ea typeface="제주고딕" pitchFamily="2" charset="-127"/>
              </a:rPr>
              <a:t>라이트한</a:t>
            </a:r>
            <a:r>
              <a:rPr lang="ko-KR" altLang="en-US" sz="900" dirty="0">
                <a:latin typeface="제주고딕" pitchFamily="2" charset="-127"/>
                <a:ea typeface="제주고딕" pitchFamily="2" charset="-127"/>
              </a:rPr>
              <a:t> 바디와 높은 산도가 인상적이다</a:t>
            </a:r>
            <a:r>
              <a:rPr lang="en-US" altLang="ko-KR" sz="900" dirty="0">
                <a:latin typeface="제주고딕" pitchFamily="2" charset="-127"/>
                <a:ea typeface="제주고딕" pitchFamily="2" charset="-127"/>
              </a:rPr>
              <a:t>. </a:t>
            </a:r>
            <a:r>
              <a:rPr lang="ko-KR" altLang="en-US" sz="900" dirty="0">
                <a:latin typeface="제주고딕" pitchFamily="2" charset="-127"/>
                <a:ea typeface="제주고딕" pitchFamily="2" charset="-127"/>
              </a:rPr>
              <a:t>부싯돌과 미네랄 풍미로 여운을 남긴다</a:t>
            </a:r>
            <a:r>
              <a:rPr lang="en-US" altLang="ko-KR" sz="900" dirty="0">
                <a:latin typeface="제주고딕" pitchFamily="2" charset="-127"/>
                <a:ea typeface="제주고딕" pitchFamily="2" charset="-127"/>
              </a:rPr>
              <a:t>.</a:t>
            </a:r>
          </a:p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ko-KR" altLang="en-US" sz="900" dirty="0">
                <a:latin typeface="제주고딕" pitchFamily="2" charset="-127"/>
                <a:ea typeface="제주고딕" pitchFamily="2" charset="-127"/>
              </a:rPr>
              <a:t>잠재력</a:t>
            </a:r>
            <a:r>
              <a:rPr lang="en-US" altLang="ko-KR" sz="900" dirty="0">
                <a:latin typeface="제주고딕" pitchFamily="2" charset="-127"/>
                <a:ea typeface="제주고딕" pitchFamily="2" charset="-127"/>
              </a:rPr>
              <a:t>: 2030</a:t>
            </a:r>
          </a:p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ko-KR" altLang="en-US" sz="900" dirty="0">
                <a:latin typeface="제주고딕" pitchFamily="2" charset="-127"/>
                <a:ea typeface="제주고딕" pitchFamily="2" charset="-127"/>
              </a:rPr>
              <a:t>서빙 온도</a:t>
            </a:r>
            <a:r>
              <a:rPr lang="en-US" altLang="ko-KR" sz="900" dirty="0">
                <a:latin typeface="제주고딕" pitchFamily="2" charset="-127"/>
                <a:ea typeface="제주고딕" pitchFamily="2" charset="-127"/>
              </a:rPr>
              <a:t>: 10</a:t>
            </a:r>
            <a:r>
              <a:rPr lang="en-US" altLang="ko-KR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˚c</a:t>
            </a:r>
            <a:endParaRPr lang="en-US" altLang="ko-KR" sz="900" dirty="0">
              <a:latin typeface="제주고딕" pitchFamily="2" charset="-127"/>
              <a:ea typeface="제주고딕" pitchFamily="2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DF1989A-110D-157B-34EA-1DD0F74CAD14}"/>
              </a:ext>
            </a:extLst>
          </p:cNvPr>
          <p:cNvSpPr txBox="1"/>
          <p:nvPr/>
        </p:nvSpPr>
        <p:spPr>
          <a:xfrm>
            <a:off x="1916832" y="7765741"/>
            <a:ext cx="5102931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Wingdings" panose="05000000000000000000" pitchFamily="2" charset="2"/>
              <a:buChar char="u"/>
            </a:pPr>
            <a:r>
              <a:rPr lang="ko-KR" altLang="en-US" sz="900" dirty="0" err="1">
                <a:latin typeface="제주고딕" pitchFamily="2" charset="-127"/>
                <a:ea typeface="제주고딕" pitchFamily="2" charset="-127"/>
              </a:rPr>
              <a:t>리델</a:t>
            </a:r>
            <a:r>
              <a:rPr lang="ko-KR" altLang="en-US" sz="900" dirty="0">
                <a:latin typeface="제주고딕" pitchFamily="2" charset="-127"/>
                <a:ea typeface="제주고딕" pitchFamily="2" charset="-127"/>
              </a:rPr>
              <a:t> </a:t>
            </a:r>
            <a:r>
              <a:rPr lang="ko-KR" altLang="en-US" sz="900" dirty="0" err="1">
                <a:latin typeface="제주고딕" pitchFamily="2" charset="-127"/>
                <a:ea typeface="제주고딕" pitchFamily="2" charset="-127"/>
              </a:rPr>
              <a:t>블랙타이</a:t>
            </a:r>
            <a:r>
              <a:rPr lang="ko-KR" altLang="en-US" sz="900" dirty="0">
                <a:latin typeface="제주고딕" pitchFamily="2" charset="-127"/>
                <a:ea typeface="제주고딕" pitchFamily="2" charset="-127"/>
              </a:rPr>
              <a:t> </a:t>
            </a:r>
            <a:r>
              <a:rPr lang="ko-KR" altLang="en-US" sz="900" dirty="0" err="1">
                <a:latin typeface="제주고딕" pitchFamily="2" charset="-127"/>
                <a:ea typeface="제주고딕" pitchFamily="2" charset="-127"/>
              </a:rPr>
              <a:t>머추어</a:t>
            </a:r>
            <a:r>
              <a:rPr lang="ko-KR" altLang="en-US" sz="900" dirty="0">
                <a:latin typeface="제주고딕" pitchFamily="2" charset="-127"/>
                <a:ea typeface="제주고딕" pitchFamily="2" charset="-127"/>
              </a:rPr>
              <a:t> </a:t>
            </a:r>
            <a:r>
              <a:rPr lang="ko-KR" altLang="en-US" sz="900" dirty="0" err="1">
                <a:latin typeface="제주고딕" pitchFamily="2" charset="-127"/>
                <a:ea typeface="제주고딕" pitchFamily="2" charset="-127"/>
              </a:rPr>
              <a:t>보르도</a:t>
            </a:r>
            <a:r>
              <a:rPr lang="en-US" altLang="ko-KR" sz="900" dirty="0">
                <a:latin typeface="제주고딕" pitchFamily="2" charset="-127"/>
                <a:ea typeface="제주고딕" pitchFamily="2" charset="-127"/>
              </a:rPr>
              <a:t>/</a:t>
            </a:r>
            <a:r>
              <a:rPr lang="ko-KR" altLang="en-US" sz="900" dirty="0" err="1">
                <a:latin typeface="제주고딕" pitchFamily="2" charset="-127"/>
                <a:ea typeface="제주고딕" pitchFamily="2" charset="-127"/>
              </a:rPr>
              <a:t>샤블리</a:t>
            </a:r>
            <a:r>
              <a:rPr lang="ko-KR" altLang="en-US" sz="900" dirty="0">
                <a:latin typeface="제주고딕" pitchFamily="2" charset="-127"/>
                <a:ea typeface="제주고딕" pitchFamily="2" charset="-127"/>
              </a:rPr>
              <a:t> 글라스</a:t>
            </a:r>
            <a:endParaRPr lang="en-US" altLang="ko-KR" sz="900" dirty="0">
              <a:latin typeface="제주고딕" pitchFamily="2" charset="-127"/>
              <a:ea typeface="제주고딕" pitchFamily="2" charset="-127"/>
            </a:endParaRPr>
          </a:p>
          <a:p>
            <a:pPr marL="171450" indent="-171450">
              <a:buFont typeface="Wingdings" panose="05000000000000000000" pitchFamily="2" charset="2"/>
              <a:buChar char="u"/>
            </a:pPr>
            <a:r>
              <a:rPr lang="ko-KR" altLang="en-US" sz="900" dirty="0" err="1">
                <a:latin typeface="제주고딕" pitchFamily="2" charset="-127"/>
                <a:ea typeface="제주고딕" pitchFamily="2" charset="-127"/>
              </a:rPr>
              <a:t>리델</a:t>
            </a:r>
            <a:r>
              <a:rPr lang="ko-KR" altLang="en-US" sz="900" dirty="0">
                <a:latin typeface="제주고딕" pitchFamily="2" charset="-127"/>
                <a:ea typeface="제주고딕" pitchFamily="2" charset="-127"/>
              </a:rPr>
              <a:t> </a:t>
            </a:r>
            <a:r>
              <a:rPr lang="ko-KR" altLang="en-US" sz="900" dirty="0" err="1">
                <a:latin typeface="제주고딕" pitchFamily="2" charset="-127"/>
                <a:ea typeface="제주고딕" pitchFamily="2" charset="-127"/>
              </a:rPr>
              <a:t>와인윙스</a:t>
            </a:r>
            <a:r>
              <a:rPr lang="ko-KR" altLang="en-US" sz="900" dirty="0">
                <a:latin typeface="제주고딕" pitchFamily="2" charset="-127"/>
                <a:ea typeface="제주고딕" pitchFamily="2" charset="-127"/>
              </a:rPr>
              <a:t> 샤르도네 글라스</a:t>
            </a:r>
            <a:endParaRPr lang="en-US" altLang="ko-KR" sz="900" dirty="0">
              <a:latin typeface="제주고딕" pitchFamily="2" charset="-127"/>
              <a:ea typeface="제주고딕" pitchFamily="2" charset="-127"/>
            </a:endParaRPr>
          </a:p>
          <a:p>
            <a:pPr marL="171450" indent="-171450">
              <a:buFont typeface="Wingdings" panose="05000000000000000000" pitchFamily="2" charset="2"/>
              <a:buChar char="u"/>
            </a:pPr>
            <a:r>
              <a:rPr lang="ko-KR" altLang="en-US" sz="900" dirty="0" err="1">
                <a:latin typeface="제주고딕" pitchFamily="2" charset="-127"/>
                <a:ea typeface="제주고딕" pitchFamily="2" charset="-127"/>
              </a:rPr>
              <a:t>리델</a:t>
            </a:r>
            <a:r>
              <a:rPr lang="ko-KR" altLang="en-US" sz="900" dirty="0">
                <a:latin typeface="제주고딕" pitchFamily="2" charset="-127"/>
                <a:ea typeface="제주고딕" pitchFamily="2" charset="-127"/>
              </a:rPr>
              <a:t> </a:t>
            </a:r>
            <a:r>
              <a:rPr lang="ko-KR" altLang="en-US" sz="900" dirty="0" err="1">
                <a:latin typeface="제주고딕" pitchFamily="2" charset="-127"/>
                <a:ea typeface="제주고딕" pitchFamily="2" charset="-127"/>
              </a:rPr>
              <a:t>베리타스</a:t>
            </a:r>
            <a:r>
              <a:rPr lang="ko-KR" altLang="en-US" sz="900" dirty="0">
                <a:latin typeface="제주고딕" pitchFamily="2" charset="-127"/>
                <a:ea typeface="제주고딕" pitchFamily="2" charset="-127"/>
              </a:rPr>
              <a:t> </a:t>
            </a:r>
            <a:r>
              <a:rPr lang="ko-KR" altLang="en-US" sz="900" dirty="0" err="1">
                <a:latin typeface="제주고딕" pitchFamily="2" charset="-127"/>
                <a:ea typeface="제주고딕" pitchFamily="2" charset="-127"/>
              </a:rPr>
              <a:t>비오니에</a:t>
            </a:r>
            <a:r>
              <a:rPr lang="en-US" altLang="ko-KR" sz="900" dirty="0">
                <a:latin typeface="제주고딕" pitchFamily="2" charset="-127"/>
                <a:ea typeface="제주고딕" pitchFamily="2" charset="-127"/>
              </a:rPr>
              <a:t>/</a:t>
            </a:r>
            <a:r>
              <a:rPr lang="ko-KR" altLang="en-US" sz="900" dirty="0">
                <a:latin typeface="제주고딕" pitchFamily="2" charset="-127"/>
                <a:ea typeface="제주고딕" pitchFamily="2" charset="-127"/>
              </a:rPr>
              <a:t>샤르도네 글라스</a:t>
            </a:r>
            <a:endParaRPr lang="en-US" altLang="ko-KR" sz="900" dirty="0">
              <a:latin typeface="제주고딕" pitchFamily="2" charset="-127"/>
              <a:ea typeface="제주고딕" pitchFamily="2" charset="-127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96363F3B-FC7A-5CFD-83A9-F7BD0445D272}"/>
              </a:ext>
            </a:extLst>
          </p:cNvPr>
          <p:cNvSpPr txBox="1"/>
          <p:nvPr/>
        </p:nvSpPr>
        <p:spPr>
          <a:xfrm>
            <a:off x="1937578" y="2765827"/>
            <a:ext cx="60785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100" b="1" dirty="0"/>
              <a:t>빈티지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58ED9F9A-8209-C7E5-E5C6-78F47D86C7D5}"/>
              </a:ext>
            </a:extLst>
          </p:cNvPr>
          <p:cNvSpPr txBox="1"/>
          <p:nvPr/>
        </p:nvSpPr>
        <p:spPr>
          <a:xfrm>
            <a:off x="1916832" y="3008690"/>
            <a:ext cx="444375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spc="-30" dirty="0">
                <a:solidFill>
                  <a:schemeClr val="tx1">
                    <a:lumMod val="95000"/>
                    <a:lumOff val="5000"/>
                  </a:schemeClr>
                </a:solidFill>
                <a:latin typeface="제주고딕" pitchFamily="2" charset="-127"/>
                <a:ea typeface="제주고딕" pitchFamily="2" charset="-127"/>
              </a:rPr>
              <a:t>2020</a:t>
            </a:r>
            <a:r>
              <a:rPr lang="ko-KR" altLang="en-US" sz="1000" spc="-30" dirty="0">
                <a:solidFill>
                  <a:schemeClr val="tx1">
                    <a:lumMod val="95000"/>
                    <a:lumOff val="5000"/>
                  </a:schemeClr>
                </a:solidFill>
                <a:latin typeface="제주고딕" pitchFamily="2" charset="-127"/>
                <a:ea typeface="제주고딕" pitchFamily="2" charset="-127"/>
              </a:rPr>
              <a:t>년은 다소 온난했던 해로</a:t>
            </a:r>
            <a:r>
              <a:rPr lang="en-US" altLang="ko-KR" sz="1000" spc="-30" dirty="0">
                <a:solidFill>
                  <a:schemeClr val="tx1">
                    <a:lumMod val="95000"/>
                    <a:lumOff val="5000"/>
                  </a:schemeClr>
                </a:solidFill>
                <a:latin typeface="제주고딕" pitchFamily="2" charset="-127"/>
                <a:ea typeface="제주고딕" pitchFamily="2" charset="-127"/>
              </a:rPr>
              <a:t>, </a:t>
            </a:r>
            <a:r>
              <a:rPr lang="ko-KR" altLang="en-US" sz="1000" spc="-30" dirty="0">
                <a:solidFill>
                  <a:schemeClr val="tx1">
                    <a:lumMod val="95000"/>
                    <a:lumOff val="5000"/>
                  </a:schemeClr>
                </a:solidFill>
                <a:latin typeface="제주고딕" pitchFamily="2" charset="-127"/>
                <a:ea typeface="제주고딕" pitchFamily="2" charset="-127"/>
              </a:rPr>
              <a:t>햇볕을 잘 받은 </a:t>
            </a:r>
            <a:r>
              <a:rPr lang="ko-KR" altLang="en-US" sz="1000" spc="-3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제주고딕" pitchFamily="2" charset="-127"/>
                <a:ea typeface="제주고딕" pitchFamily="2" charset="-127"/>
              </a:rPr>
              <a:t>샤르도네가</a:t>
            </a:r>
            <a:r>
              <a:rPr lang="ko-KR" altLang="en-US" sz="1000" spc="-30" dirty="0">
                <a:solidFill>
                  <a:schemeClr val="tx1">
                    <a:lumMod val="95000"/>
                    <a:lumOff val="5000"/>
                  </a:schemeClr>
                </a:solidFill>
                <a:latin typeface="제주고딕" pitchFamily="2" charset="-127"/>
                <a:ea typeface="제주고딕" pitchFamily="2" charset="-127"/>
              </a:rPr>
              <a:t> 자랄 수 있었다</a:t>
            </a:r>
            <a:r>
              <a:rPr lang="en-US" altLang="ko-KR" sz="1000" spc="-30" dirty="0">
                <a:solidFill>
                  <a:schemeClr val="tx1">
                    <a:lumMod val="95000"/>
                    <a:lumOff val="5000"/>
                  </a:schemeClr>
                </a:solidFill>
                <a:latin typeface="제주고딕" pitchFamily="2" charset="-127"/>
                <a:ea typeface="제주고딕" pitchFamily="2" charset="-127"/>
              </a:rPr>
              <a:t>.</a:t>
            </a:r>
            <a:endParaRPr lang="fr-FR" altLang="ko-KR" sz="1000" spc="-30" dirty="0">
              <a:solidFill>
                <a:schemeClr val="tx1">
                  <a:lumMod val="95000"/>
                  <a:lumOff val="5000"/>
                </a:schemeClr>
              </a:solidFill>
              <a:latin typeface="제주고딕" pitchFamily="2" charset="-127"/>
              <a:ea typeface="제주고딕" pitchFamily="2" charset="-127"/>
            </a:endParaRPr>
          </a:p>
        </p:txBody>
      </p:sp>
      <p:pic>
        <p:nvPicPr>
          <p:cNvPr id="2" name="그림 1" descr="텍스트, 폰트이(가) 표시된 사진&#10;&#10;자동 생성된 설명">
            <a:extLst>
              <a:ext uri="{FF2B5EF4-FFF2-40B4-BE49-F238E27FC236}">
                <a16:creationId xmlns:a16="http://schemas.microsoft.com/office/drawing/2014/main" id="{7D03D3B5-61C6-073B-F86B-F1F4A63D4F5D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3750" y="186625"/>
            <a:ext cx="1365366" cy="519505"/>
          </a:xfrm>
          <a:prstGeom prst="rect">
            <a:avLst/>
          </a:prstGeom>
        </p:spPr>
      </p:pic>
      <p:pic>
        <p:nvPicPr>
          <p:cNvPr id="3" name="Picture 7" descr="http://www.widewallpapershd.info/file/2004/600x338/16:9/france-flag_1913732111.jpg">
            <a:extLst>
              <a:ext uri="{FF2B5EF4-FFF2-40B4-BE49-F238E27FC236}">
                <a16:creationId xmlns:a16="http://schemas.microsoft.com/office/drawing/2014/main" id="{BE10908A-0E96-35A5-050D-A5B41FC9EC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5605040" y="148594"/>
            <a:ext cx="1113120" cy="578822"/>
          </a:xfrm>
          <a:prstGeom prst="rect">
            <a:avLst/>
          </a:prstGeom>
          <a:noFill/>
        </p:spPr>
      </p:pic>
      <p:sp>
        <p:nvSpPr>
          <p:cNvPr id="4" name="직사각형 3">
            <a:extLst>
              <a:ext uri="{FF2B5EF4-FFF2-40B4-BE49-F238E27FC236}">
                <a16:creationId xmlns:a16="http://schemas.microsoft.com/office/drawing/2014/main" id="{C3853EF4-38A1-BA60-76DE-5D36B387573A}"/>
              </a:ext>
            </a:extLst>
          </p:cNvPr>
          <p:cNvSpPr/>
          <p:nvPr/>
        </p:nvSpPr>
        <p:spPr>
          <a:xfrm>
            <a:off x="1524381" y="370558"/>
            <a:ext cx="2267159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/>
            <a:r>
              <a:rPr lang="ko-KR" altLang="en-US" sz="1200" i="1" dirty="0" err="1">
                <a:solidFill>
                  <a:prstClr val="black">
                    <a:lumMod val="95000"/>
                    <a:lumOff val="5000"/>
                  </a:prstClr>
                </a:solidFill>
                <a:latin typeface="제주고딕" pitchFamily="2" charset="-127"/>
                <a:ea typeface="제주고딕" pitchFamily="2" charset="-127"/>
                <a:cs typeface="Ebrima" pitchFamily="2" charset="0"/>
              </a:rPr>
              <a:t>클레멍</a:t>
            </a:r>
            <a:r>
              <a:rPr lang="ko-KR" altLang="en-US" sz="1200" i="1" dirty="0">
                <a:solidFill>
                  <a:prstClr val="black">
                    <a:lumMod val="95000"/>
                    <a:lumOff val="5000"/>
                  </a:prstClr>
                </a:solidFill>
                <a:latin typeface="제주고딕" pitchFamily="2" charset="-127"/>
                <a:ea typeface="제주고딕" pitchFamily="2" charset="-127"/>
                <a:cs typeface="Ebrima" pitchFamily="2" charset="0"/>
              </a:rPr>
              <a:t> </a:t>
            </a:r>
            <a:r>
              <a:rPr lang="ko-KR" altLang="en-US" sz="1200" i="1" dirty="0" err="1">
                <a:solidFill>
                  <a:prstClr val="black">
                    <a:lumMod val="95000"/>
                    <a:lumOff val="5000"/>
                  </a:prstClr>
                </a:solidFill>
                <a:latin typeface="제주고딕" pitchFamily="2" charset="-127"/>
                <a:ea typeface="제주고딕" pitchFamily="2" charset="-127"/>
                <a:cs typeface="Ebrima" pitchFamily="2" charset="0"/>
              </a:rPr>
              <a:t>라발레</a:t>
            </a:r>
            <a:r>
              <a:rPr lang="ko-KR" altLang="en-US" sz="1200" i="1" dirty="0">
                <a:solidFill>
                  <a:prstClr val="black">
                    <a:lumMod val="95000"/>
                    <a:lumOff val="5000"/>
                  </a:prstClr>
                </a:solidFill>
                <a:latin typeface="제주고딕" pitchFamily="2" charset="-127"/>
                <a:ea typeface="제주고딕" pitchFamily="2" charset="-127"/>
                <a:cs typeface="Ebrima" pitchFamily="2" charset="0"/>
              </a:rPr>
              <a:t> </a:t>
            </a:r>
            <a:r>
              <a:rPr lang="en-US" altLang="ko-KR" sz="1200" i="1" dirty="0">
                <a:solidFill>
                  <a:prstClr val="black">
                    <a:lumMod val="95000"/>
                    <a:lumOff val="5000"/>
                  </a:prstClr>
                </a:solidFill>
                <a:latin typeface="제주고딕" pitchFamily="2" charset="-127"/>
                <a:ea typeface="제주고딕" pitchFamily="2" charset="-127"/>
                <a:cs typeface="Ebrima" pitchFamily="2" charset="0"/>
              </a:rPr>
              <a:t>Cl</a:t>
            </a:r>
            <a:r>
              <a:rPr lang="fr-FR" altLang="ko-KR" sz="1200" i="1" dirty="0">
                <a:solidFill>
                  <a:prstClr val="black">
                    <a:lumMod val="95000"/>
                    <a:lumOff val="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Ebrima" pitchFamily="2" charset="0"/>
              </a:rPr>
              <a:t>émet Lavalée</a:t>
            </a:r>
            <a:endParaRPr lang="ko-KR" altLang="en-US" sz="1200" i="1" dirty="0">
              <a:solidFill>
                <a:prstClr val="black">
                  <a:lumMod val="95000"/>
                  <a:lumOff val="5000"/>
                </a:prstClr>
              </a:solidFill>
              <a:latin typeface="제주고딕" pitchFamily="2" charset="-127"/>
              <a:ea typeface="제주고딕" pitchFamily="2" charset="-127"/>
              <a:cs typeface="Ebrima" pitchFamily="2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DEB7475-213B-A143-A081-1646CD8A73D4}"/>
              </a:ext>
            </a:extLst>
          </p:cNvPr>
          <p:cNvSpPr txBox="1"/>
          <p:nvPr/>
        </p:nvSpPr>
        <p:spPr>
          <a:xfrm>
            <a:off x="1521752" y="114911"/>
            <a:ext cx="406748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i="1" spc="-5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제주고딕" pitchFamily="2" charset="-127"/>
                <a:ea typeface="제주고딕" pitchFamily="2" charset="-127"/>
              </a:rPr>
              <a:t>샤블리의</a:t>
            </a:r>
            <a:r>
              <a:rPr lang="ko-KR" altLang="en-US" sz="1000" i="1" spc="-50" dirty="0">
                <a:solidFill>
                  <a:schemeClr val="tx1">
                    <a:lumMod val="95000"/>
                    <a:lumOff val="5000"/>
                  </a:schemeClr>
                </a:solidFill>
                <a:latin typeface="제주고딕" pitchFamily="2" charset="-127"/>
                <a:ea typeface="제주고딕" pitchFamily="2" charset="-127"/>
              </a:rPr>
              <a:t> </a:t>
            </a:r>
            <a:r>
              <a:rPr lang="ko-KR" altLang="en-US" sz="1000" i="1" spc="-5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제주고딕" pitchFamily="2" charset="-127"/>
                <a:ea typeface="제주고딕" pitchFamily="2" charset="-127"/>
              </a:rPr>
              <a:t>아티장</a:t>
            </a:r>
            <a:r>
              <a:rPr lang="ko-KR" altLang="en-US" sz="1000" i="1" spc="-50" dirty="0">
                <a:solidFill>
                  <a:schemeClr val="tx1">
                    <a:lumMod val="95000"/>
                    <a:lumOff val="5000"/>
                  </a:schemeClr>
                </a:solidFill>
                <a:latin typeface="제주고딕" pitchFamily="2" charset="-127"/>
                <a:ea typeface="제주고딕" pitchFamily="2" charset="-127"/>
              </a:rPr>
              <a:t> 와인메이커</a:t>
            </a:r>
          </a:p>
        </p:txBody>
      </p:sp>
    </p:spTree>
    <p:extLst>
      <p:ext uri="{BB962C8B-B14F-4D97-AF65-F5344CB8AC3E}">
        <p14:creationId xmlns:p14="http://schemas.microsoft.com/office/powerpoint/2010/main" val="15920311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문서" ma:contentTypeID="0x0101008D7AEB5908F6274D9F71EA1A2A2C0F01" ma:contentTypeVersion="15" ma:contentTypeDescription="새 문서를 만듭니다." ma:contentTypeScope="" ma:versionID="5cddc427123bdeb3539c5cbb6c7fda10">
  <xsd:schema xmlns:xsd="http://www.w3.org/2001/XMLSchema" xmlns:xs="http://www.w3.org/2001/XMLSchema" xmlns:p="http://schemas.microsoft.com/office/2006/metadata/properties" xmlns:ns2="5683d3ba-1d1d-4956-9383-32836718543d" xmlns:ns3="82e09014-1b69-4a42-921c-d06f07fd42bf" targetNamespace="http://schemas.microsoft.com/office/2006/metadata/properties" ma:root="true" ma:fieldsID="43dc7b24cd905d22a4406bba3b29a749" ns2:_="" ns3:_="">
    <xsd:import namespace="5683d3ba-1d1d-4956-9383-32836718543d"/>
    <xsd:import namespace="82e09014-1b69-4a42-921c-d06f07fd42b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Locatio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3:SharedWithUsers" minOccurs="0"/>
                <xsd:element ref="ns3:SharedWithDetails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683d3ba-1d1d-4956-9383-32836718543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Location" ma:index="11" nillable="true" ma:displayName="Location" ma:indexed="true" ma:internalName="MediaServiceLocatio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6" nillable="true" ma:taxonomy="true" ma:internalName="lcf76f155ced4ddcb4097134ff3c332f" ma:taxonomyFieldName="MediaServiceImageTags" ma:displayName="이미지 태그" ma:readOnly="false" ma:fieldId="{5cf76f15-5ced-4ddc-b409-7134ff3c332f}" ma:taxonomyMulti="true" ma:sspId="90d68e71-9001-4189-a410-6aea5fecc9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ObjectDetectorVersions" ma:index="2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2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2e09014-1b69-4a42-921c-d06f07fd42bf" elementFormDefault="qualified">
    <xsd:import namespace="http://schemas.microsoft.com/office/2006/documentManagement/types"/>
    <xsd:import namespace="http://schemas.microsoft.com/office/infopath/2007/PartnerControls"/>
    <xsd:element name="TaxCatchAll" ma:index="17" nillable="true" ma:displayName="Taxonomy Catch All Column" ma:hidden="true" ma:list="{b11ced05-d7c9-44cb-a32d-f40c3c84c39e}" ma:internalName="TaxCatchAll" ma:showField="CatchAllData" ma:web="82e09014-1b69-4a42-921c-d06f07fd42bf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9" nillable="true" ma:displayName="공유 대상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0" nillable="true" ma:displayName="세부 정보 공유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콘텐츠 형식"/>
        <xsd:element ref="dc:title" minOccurs="0" maxOccurs="1" ma:index="4" ma:displayName="제목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5683d3ba-1d1d-4956-9383-32836718543d">
      <Terms xmlns="http://schemas.microsoft.com/office/infopath/2007/PartnerControls"/>
    </lcf76f155ced4ddcb4097134ff3c332f>
    <TaxCatchAll xmlns="82e09014-1b69-4a42-921c-d06f07fd42bf" xsi:nil="true"/>
  </documentManagement>
</p:properties>
</file>

<file path=customXml/itemProps1.xml><?xml version="1.0" encoding="utf-8"?>
<ds:datastoreItem xmlns:ds="http://schemas.openxmlformats.org/officeDocument/2006/customXml" ds:itemID="{AB551BDD-7B04-4CE9-9E98-F9676C3D758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5683d3ba-1d1d-4956-9383-32836718543d"/>
    <ds:schemaRef ds:uri="82e09014-1b69-4a42-921c-d06f07fd42b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4E887946-7509-4F66-A98D-05A298B312BC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E47C9D41-23F6-4822-AD25-7E8C5A3683D8}">
  <ds:schemaRefs>
    <ds:schemaRef ds:uri="http://purl.org/dc/elements/1.1/"/>
    <ds:schemaRef ds:uri="5683d3ba-1d1d-4956-9383-32836718543d"/>
    <ds:schemaRef ds:uri="http://schemas.microsoft.com/office/infopath/2007/PartnerControls"/>
    <ds:schemaRef ds:uri="http://www.w3.org/XML/1998/namespace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openxmlformats.org/package/2006/metadata/core-properties"/>
    <ds:schemaRef ds:uri="82e09014-1b69-4a42-921c-d06f07fd42bf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3509</TotalTime>
  <Words>190</Words>
  <Application>Microsoft Office PowerPoint</Application>
  <PresentationFormat>화면 슬라이드 쇼(4:3)</PresentationFormat>
  <Paragraphs>29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7" baseType="lpstr">
      <vt:lpstr>Noto Sans KR</vt:lpstr>
      <vt:lpstr>맑은 고딕</vt:lpstr>
      <vt:lpstr>제주고딕</vt:lpstr>
      <vt:lpstr>Arial</vt:lpstr>
      <vt:lpstr>Wingdings</vt:lpstr>
      <vt:lpstr>Office 테마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^^</dc:creator>
  <cp:lastModifiedBy>조 성재</cp:lastModifiedBy>
  <cp:revision>29</cp:revision>
  <dcterms:created xsi:type="dcterms:W3CDTF">2021-01-15T04:46:07Z</dcterms:created>
  <dcterms:modified xsi:type="dcterms:W3CDTF">2026-02-10T01:59:50Z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0x0101008D7AEB5908F6274D9F71EA1A2A2C0F01</vt:lpwstr>
  </property>
  <property fmtid="{D5CDD505-2E9C-101B-9397-08002B2CF9AE}" pid="3" name="MediaServiceImageTags">
    <vt:lpwstr/>
  </property>
</Properties>
</file>