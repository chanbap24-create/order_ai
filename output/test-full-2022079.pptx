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6858000" cy="9144000"/>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image" Target="../media/image-1-3.jpeg"/><Relationship Id="rId4" Type="http://schemas.openxmlformats.org/officeDocument/2006/relationships/image" Target="../media/image-1-4.jpe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822960"/>
            <a:ext cx="1920240" cy="7406640"/>
          </a:xfrm>
          <a:prstGeom prst="rect">
            <a:avLst/>
          </a:prstGeom>
          <a:solidFill>
            <a:srgbClr val="F5F0EA">
              <a:alpha val="60000"/>
            </a:srgbClr>
          </a:solidFill>
          <a:ln w="12700">
            <a:solidFill>
              <a:srgbClr val="333333"/>
            </a:solidFill>
            <a:prstDash val="solid"/>
          </a:ln>
        </p:spPr>
      </p:sp>
      <p:sp>
        <p:nvSpPr>
          <p:cNvPr id="3" name="Shape 1"/>
          <p:cNvSpPr/>
          <p:nvPr/>
        </p:nvSpPr>
        <p:spPr>
          <a:xfrm>
            <a:off x="6537960" y="182880"/>
            <a:ext cx="54864" cy="521208"/>
          </a:xfrm>
          <a:prstGeom prst="roundRect">
            <a:avLst>
              <a:gd name="adj" fmla="val 50000"/>
            </a:avLst>
          </a:prstGeom>
          <a:solidFill>
            <a:srgbClr val="722F37"/>
          </a:solidFill>
          <a:ln w="12700">
            <a:solidFill>
              <a:srgbClr val="333333"/>
            </a:solidFill>
            <a:prstDash val="solid"/>
          </a:ln>
        </p:spPr>
      </p:sp>
      <p:pic>
        <p:nvPicPr>
          <p:cNvPr id="4" name="Image 0" descr="preencoded.png">    </p:cNvPr>
          <p:cNvPicPr>
            <a:picLocks noChangeAspect="1"/>
          </p:cNvPicPr>
          <p:nvPr/>
        </p:nvPicPr>
        <p:blipFill>
          <a:blip r:embed="rId1"/>
          <a:stretch>
            <a:fillRect/>
          </a:stretch>
        </p:blipFill>
        <p:spPr>
          <a:xfrm>
            <a:off x="182880" y="182880"/>
            <a:ext cx="1362456" cy="521208"/>
          </a:xfrm>
          <a:prstGeom prst="rect">
            <a:avLst/>
          </a:prstGeom>
        </p:spPr>
      </p:pic>
      <p:sp>
        <p:nvSpPr>
          <p:cNvPr id="5" name="Text 2"/>
          <p:cNvSpPr/>
          <p:nvPr/>
        </p:nvSpPr>
        <p:spPr>
          <a:xfrm>
            <a:off x="1609344" y="182880"/>
            <a:ext cx="4754880" cy="219456"/>
          </a:xfrm>
          <a:prstGeom prst="rect">
            <a:avLst/>
          </a:prstGeom>
          <a:noFill/>
          <a:ln/>
        </p:spPr>
        <p:txBody>
          <a:bodyPr wrap="square" rtlCol="0" anchor="ctr"/>
          <a:lstStyle/>
          <a:p>
            <a:pPr indent="0" marL="0">
              <a:buNone/>
            </a:pPr>
            <a:r>
              <a:rPr lang="en-US" sz="900" i="1" dirty="0">
                <a:solidFill>
                  <a:srgbClr val="8A8A8A"/>
                </a:solidFill>
                <a:latin typeface="Noto Sans KR" pitchFamily="34" charset="0"/>
                <a:ea typeface="Noto Sans KR" pitchFamily="34" charset="-122"/>
                <a:cs typeface="Noto Sans KR" pitchFamily="34" charset="-120"/>
              </a:rPr>
              <a:t>도멘 클로 드 라 샤펠은 부르고뉴 볼네이에 위치한 가족 경영 도멘으로, 클로 드 라 샤펠이라는 독점 밭(모노폴)을 소유하고 있습니다</a:t>
            </a:r>
            <a:endParaRPr lang="en-US" sz="900" dirty="0"/>
          </a:p>
        </p:txBody>
      </p:sp>
      <p:sp>
        <p:nvSpPr>
          <p:cNvPr id="6" name="Shape 3"/>
          <p:cNvSpPr/>
          <p:nvPr/>
        </p:nvSpPr>
        <p:spPr>
          <a:xfrm>
            <a:off x="182880" y="768096"/>
            <a:ext cx="6492240" cy="0"/>
          </a:xfrm>
          <a:prstGeom prst="line">
            <a:avLst/>
          </a:prstGeom>
          <a:noFill/>
          <a:ln w="9525">
            <a:solidFill>
              <a:srgbClr val="722F37"/>
            </a:solidFill>
            <a:prstDash val="solid"/>
          </a:ln>
        </p:spPr>
      </p:sp>
      <p:sp>
        <p:nvSpPr>
          <p:cNvPr id="7" name="Shape 4"/>
          <p:cNvSpPr/>
          <p:nvPr/>
        </p:nvSpPr>
        <p:spPr>
          <a:xfrm>
            <a:off x="182880" y="795528"/>
            <a:ext cx="6492240" cy="0"/>
          </a:xfrm>
          <a:prstGeom prst="line">
            <a:avLst/>
          </a:prstGeom>
          <a:noFill/>
          <a:ln w="9525">
            <a:solidFill>
              <a:srgbClr val="D4C4A8"/>
            </a:solidFill>
            <a:prstDash val="solid"/>
          </a:ln>
        </p:spPr>
      </p:sp>
      <p:sp>
        <p:nvSpPr>
          <p:cNvPr id="8" name="Shape 5"/>
          <p:cNvSpPr/>
          <p:nvPr/>
        </p:nvSpPr>
        <p:spPr>
          <a:xfrm>
            <a:off x="1874520" y="886968"/>
            <a:ext cx="4754880" cy="694944"/>
          </a:xfrm>
          <a:prstGeom prst="roundRect">
            <a:avLst>
              <a:gd name="adj" fmla="val 10526"/>
            </a:avLst>
          </a:prstGeom>
          <a:solidFill>
            <a:srgbClr val="F2E8EA">
              <a:alpha val="80000"/>
            </a:srgbClr>
          </a:solidFill>
          <a:ln w="6350">
            <a:solidFill>
              <a:srgbClr val="E0D5C8"/>
            </a:solidFill>
            <a:prstDash val="solid"/>
          </a:ln>
          <a:effectLst>
            <a:outerShdw sx="100000" sy="100000" kx="0" ky="0" algn="bl" rotWithShape="0" blurRad="50800" dist="19050" dir="8100000">
              <a:srgbClr val="000000">
                <a:alpha val="8000"/>
              </a:srgbClr>
            </a:outerShdw>
          </a:effectLst>
        </p:spPr>
      </p:sp>
      <p:sp>
        <p:nvSpPr>
          <p:cNvPr id="9" name="Shape 6"/>
          <p:cNvSpPr/>
          <p:nvPr/>
        </p:nvSpPr>
        <p:spPr>
          <a:xfrm>
            <a:off x="1874520" y="923544"/>
            <a:ext cx="45720" cy="621792"/>
          </a:xfrm>
          <a:prstGeom prst="roundRect">
            <a:avLst>
              <a:gd name="adj" fmla="val 50000"/>
            </a:avLst>
          </a:prstGeom>
          <a:solidFill>
            <a:srgbClr val="722F37"/>
          </a:solidFill>
          <a:ln w="12700">
            <a:solidFill>
              <a:srgbClr val="333333"/>
            </a:solidFill>
            <a:prstDash val="solid"/>
          </a:ln>
        </p:spPr>
      </p:sp>
      <p:sp>
        <p:nvSpPr>
          <p:cNvPr id="10" name="Text 7"/>
          <p:cNvSpPr/>
          <p:nvPr/>
        </p:nvSpPr>
        <p:spPr>
          <a:xfrm>
            <a:off x="2011680" y="914400"/>
            <a:ext cx="4480560" cy="329184"/>
          </a:xfrm>
          <a:prstGeom prst="rect">
            <a:avLst/>
          </a:prstGeom>
          <a:noFill/>
          <a:ln/>
        </p:spPr>
        <p:txBody>
          <a:bodyPr wrap="square" rtlCol="0" anchor="b"/>
          <a:lstStyle/>
          <a:p>
            <a:pPr indent="0" marL="0">
              <a:buNone/>
            </a:pPr>
            <a:r>
              <a:rPr lang="en-US" sz="1450" b="1" dirty="0">
                <a:solidFill>
                  <a:srgbClr val="5A252C"/>
                </a:solidFill>
                <a:latin typeface="맑은 고딕" pitchFamily="34" charset="0"/>
                <a:ea typeface="맑은 고딕" pitchFamily="34" charset="-122"/>
                <a:cs typeface="맑은 고딕" pitchFamily="34" charset="-120"/>
              </a:rPr>
              <a:t>클로 드 라 샤펠 볼네 1er Cru 클로 드 라 샤펠 모노폴</a:t>
            </a:r>
            <a:endParaRPr lang="en-US" sz="1450" dirty="0"/>
          </a:p>
        </p:txBody>
      </p:sp>
      <p:sp>
        <p:nvSpPr>
          <p:cNvPr id="11" name="Text 8"/>
          <p:cNvSpPr/>
          <p:nvPr/>
        </p:nvSpPr>
        <p:spPr>
          <a:xfrm>
            <a:off x="2011680" y="1243584"/>
            <a:ext cx="4480560" cy="274320"/>
          </a:xfrm>
          <a:prstGeom prst="rect">
            <a:avLst/>
          </a:prstGeom>
          <a:noFill/>
          <a:ln/>
        </p:spPr>
        <p:txBody>
          <a:bodyPr wrap="square" rtlCol="0" anchor="t"/>
          <a:lstStyle/>
          <a:p>
            <a:pPr indent="0" marL="0">
              <a:buNone/>
            </a:pPr>
            <a:r>
              <a:rPr lang="en-US" sz="1050" b="1" i="1" dirty="0">
                <a:solidFill>
                  <a:srgbClr val="5A5A5A"/>
                </a:solidFill>
                <a:latin typeface="맑은 고딕" pitchFamily="34" charset="0"/>
                <a:ea typeface="맑은 고딕" pitchFamily="34" charset="-122"/>
                <a:cs typeface="맑은 고딕" pitchFamily="34" charset="-120"/>
              </a:rPr>
              <a:t>Domaine Clos de la Chapelle Volnay 1er Cru Clos de la Chapelle</a:t>
            </a:r>
            <a:endParaRPr lang="en-US" sz="1050" dirty="0"/>
          </a:p>
        </p:txBody>
      </p:sp>
      <p:pic>
        <p:nvPicPr>
          <p:cNvPr id="12" name="Image 1" descr="preencoded.png">    </p:cNvPr>
          <p:cNvPicPr>
            <a:picLocks noChangeAspect="1"/>
          </p:cNvPicPr>
          <p:nvPr/>
        </p:nvPicPr>
        <p:blipFill>
          <a:blip r:embed="rId2"/>
          <a:srcRect l="0" r="0" t="0" b="0"/>
          <a:stretch/>
        </p:blipFill>
        <p:spPr>
          <a:xfrm>
            <a:off x="274320" y="2011680"/>
            <a:ext cx="1371600" cy="5303520"/>
          </a:xfrm>
          <a:prstGeom prst="rect">
            <a:avLst/>
          </a:prstGeom>
        </p:spPr>
      </p:pic>
      <p:sp>
        <p:nvSpPr>
          <p:cNvPr id="13" name="Shape 9"/>
          <p:cNvSpPr/>
          <p:nvPr/>
        </p:nvSpPr>
        <p:spPr>
          <a:xfrm>
            <a:off x="4224528" y="1636776"/>
            <a:ext cx="64008" cy="64008"/>
          </a:xfrm>
          <a:prstGeom prst="diamond">
            <a:avLst/>
          </a:prstGeom>
          <a:solidFill>
            <a:srgbClr val="B8976A"/>
          </a:solidFill>
          <a:ln w="12700">
            <a:solidFill>
              <a:srgbClr val="333333"/>
            </a:solidFill>
            <a:prstDash val="solid"/>
          </a:ln>
        </p:spPr>
      </p:sp>
      <p:sp>
        <p:nvSpPr>
          <p:cNvPr id="14" name="Shape 10"/>
          <p:cNvSpPr/>
          <p:nvPr/>
        </p:nvSpPr>
        <p:spPr>
          <a:xfrm>
            <a:off x="2011680" y="1664208"/>
            <a:ext cx="4480560" cy="0"/>
          </a:xfrm>
          <a:prstGeom prst="line">
            <a:avLst/>
          </a:prstGeom>
          <a:noFill/>
          <a:ln w="9525">
            <a:solidFill>
              <a:srgbClr val="D4C4A8"/>
            </a:solidFill>
            <a:prstDash val="solid"/>
          </a:ln>
        </p:spPr>
      </p:sp>
      <p:sp>
        <p:nvSpPr>
          <p:cNvPr id="15" name="Shape 11"/>
          <p:cNvSpPr/>
          <p:nvPr/>
        </p:nvSpPr>
        <p:spPr>
          <a:xfrm>
            <a:off x="1874520" y="1755648"/>
            <a:ext cx="4754880" cy="868680"/>
          </a:xfrm>
          <a:prstGeom prst="roundRect">
            <a:avLst>
              <a:gd name="adj" fmla="val 8421"/>
            </a:avLst>
          </a:prstGeom>
          <a:solidFill>
            <a:srgbClr val="FFFFFF">
              <a:alpha val="85000"/>
            </a:srgbClr>
          </a:solidFill>
          <a:ln w="6350">
            <a:solidFill>
              <a:srgbClr val="E0D5C8"/>
            </a:solidFill>
            <a:prstDash val="solid"/>
          </a:ln>
        </p:spPr>
      </p:sp>
      <p:sp>
        <p:nvSpPr>
          <p:cNvPr id="16" name="Shape 12"/>
          <p:cNvSpPr/>
          <p:nvPr/>
        </p:nvSpPr>
        <p:spPr>
          <a:xfrm>
            <a:off x="1938528" y="1801368"/>
            <a:ext cx="502920" cy="201168"/>
          </a:xfrm>
          <a:prstGeom prst="roundRect">
            <a:avLst>
              <a:gd name="adj" fmla="val 18182"/>
            </a:avLst>
          </a:prstGeom>
          <a:solidFill>
            <a:srgbClr val="722F37"/>
          </a:solidFill>
          <a:ln w="12700">
            <a:solidFill>
              <a:srgbClr val="333333"/>
            </a:solidFill>
            <a:prstDash val="solid"/>
          </a:ln>
        </p:spPr>
      </p:sp>
      <p:sp>
        <p:nvSpPr>
          <p:cNvPr id="17" name="Text 13"/>
          <p:cNvSpPr/>
          <p:nvPr/>
        </p:nvSpPr>
        <p:spPr>
          <a:xfrm>
            <a:off x="1938528" y="1801368"/>
            <a:ext cx="502920" cy="201168"/>
          </a:xfrm>
          <a:prstGeom prst="rect">
            <a:avLst/>
          </a:prstGeom>
          <a:noFill/>
          <a:ln/>
        </p:spPr>
        <p:txBody>
          <a:bodyPr wrap="square" rtlCol="0" anchor="ctr"/>
          <a:lstStyle/>
          <a:p>
            <a:pPr algn="ctr" indent="0" marL="0">
              <a:buNone/>
            </a:pPr>
            <a:r>
              <a:rPr lang="en-US" sz="850" b="1" dirty="0">
                <a:solidFill>
                  <a:srgbClr val="FFFFFF"/>
                </a:solidFill>
                <a:latin typeface="맑은 고딕" pitchFamily="34" charset="0"/>
                <a:ea typeface="맑은 고딕" pitchFamily="34" charset="-122"/>
                <a:cs typeface="맑은 고딕" pitchFamily="34" charset="-120"/>
              </a:rPr>
              <a:t>  지역  </a:t>
            </a:r>
            <a:endParaRPr lang="en-US" sz="850" dirty="0"/>
          </a:p>
        </p:txBody>
      </p:sp>
      <p:sp>
        <p:nvSpPr>
          <p:cNvPr id="18" name="Text 14"/>
          <p:cNvSpPr/>
          <p:nvPr/>
        </p:nvSpPr>
        <p:spPr>
          <a:xfrm>
            <a:off x="2514600" y="1792224"/>
            <a:ext cx="4023360" cy="219456"/>
          </a:xfrm>
          <a:prstGeom prst="rect">
            <a:avLst/>
          </a:prstGeom>
          <a:noFill/>
          <a:ln/>
        </p:spPr>
        <p:txBody>
          <a:bodyPr wrap="square" rtlCol="0" anchor="ctr"/>
          <a:lstStyle/>
          <a:p>
            <a:pPr indent="0" marL="0">
              <a:buNone/>
            </a:pPr>
            <a:r>
              <a:rPr lang="en-US" sz="950" dirty="0">
                <a:solidFill>
                  <a:srgbClr val="2C2C2C"/>
                </a:solidFill>
                <a:latin typeface="맑은 고딕" pitchFamily="34" charset="0"/>
                <a:ea typeface="맑은 고딕" pitchFamily="34" charset="-122"/>
                <a:cs typeface="맑은 고딕" pitchFamily="34" charset="-120"/>
              </a:rPr>
              <a:t>France, Volnay, Côte de Beaune, Burgundy</a:t>
            </a:r>
            <a:endParaRPr lang="en-US" sz="950" dirty="0"/>
          </a:p>
        </p:txBody>
      </p:sp>
      <p:sp>
        <p:nvSpPr>
          <p:cNvPr id="19" name="Shape 15"/>
          <p:cNvSpPr/>
          <p:nvPr/>
        </p:nvSpPr>
        <p:spPr>
          <a:xfrm>
            <a:off x="2011680" y="2148840"/>
            <a:ext cx="4480560" cy="0"/>
          </a:xfrm>
          <a:prstGeom prst="line">
            <a:avLst/>
          </a:prstGeom>
          <a:noFill/>
          <a:ln w="9525">
            <a:solidFill>
              <a:srgbClr val="E8DDD0"/>
            </a:solidFill>
            <a:prstDash val="solid"/>
          </a:ln>
        </p:spPr>
      </p:sp>
      <p:sp>
        <p:nvSpPr>
          <p:cNvPr id="20" name="Shape 16"/>
          <p:cNvSpPr/>
          <p:nvPr/>
        </p:nvSpPr>
        <p:spPr>
          <a:xfrm>
            <a:off x="1938528" y="2212848"/>
            <a:ext cx="502920" cy="201168"/>
          </a:xfrm>
          <a:prstGeom prst="roundRect">
            <a:avLst>
              <a:gd name="adj" fmla="val 18182"/>
            </a:avLst>
          </a:prstGeom>
          <a:solidFill>
            <a:srgbClr val="722F37"/>
          </a:solidFill>
          <a:ln w="12700">
            <a:solidFill>
              <a:srgbClr val="333333"/>
            </a:solidFill>
            <a:prstDash val="solid"/>
          </a:ln>
        </p:spPr>
      </p:sp>
      <p:sp>
        <p:nvSpPr>
          <p:cNvPr id="21" name="Text 17"/>
          <p:cNvSpPr/>
          <p:nvPr/>
        </p:nvSpPr>
        <p:spPr>
          <a:xfrm>
            <a:off x="1938528" y="2212848"/>
            <a:ext cx="502920" cy="201168"/>
          </a:xfrm>
          <a:prstGeom prst="rect">
            <a:avLst/>
          </a:prstGeom>
          <a:noFill/>
          <a:ln/>
        </p:spPr>
        <p:txBody>
          <a:bodyPr wrap="square" rtlCol="0" anchor="ctr"/>
          <a:lstStyle/>
          <a:p>
            <a:pPr algn="ctr" indent="0" marL="0">
              <a:buNone/>
            </a:pPr>
            <a:r>
              <a:rPr lang="en-US" sz="850" b="1" dirty="0">
                <a:solidFill>
                  <a:srgbClr val="FFFFFF"/>
                </a:solidFill>
                <a:latin typeface="맑은 고딕" pitchFamily="34" charset="0"/>
                <a:ea typeface="맑은 고딕" pitchFamily="34" charset="-122"/>
                <a:cs typeface="맑은 고딕" pitchFamily="34" charset="-120"/>
              </a:rPr>
              <a:t>  품종  </a:t>
            </a:r>
            <a:endParaRPr lang="en-US" sz="850" dirty="0"/>
          </a:p>
        </p:txBody>
      </p:sp>
      <p:sp>
        <p:nvSpPr>
          <p:cNvPr id="22" name="Text 18"/>
          <p:cNvSpPr/>
          <p:nvPr/>
        </p:nvSpPr>
        <p:spPr>
          <a:xfrm>
            <a:off x="2514600" y="2203704"/>
            <a:ext cx="4023360" cy="365760"/>
          </a:xfrm>
          <a:prstGeom prst="rect">
            <a:avLst/>
          </a:prstGeom>
          <a:noFill/>
          <a:ln/>
        </p:spPr>
        <p:txBody>
          <a:bodyPr wrap="square" rtlCol="0" anchor="t"/>
          <a:lstStyle/>
          <a:p>
            <a:pPr indent="0" marL="0">
              <a:buNone/>
            </a:pPr>
            <a:r>
              <a:rPr lang="en-US" sz="950" dirty="0">
                <a:solidFill>
                  <a:srgbClr val="2C2C2C"/>
                </a:solidFill>
                <a:latin typeface="맑은 고딕" pitchFamily="34" charset="0"/>
                <a:ea typeface="맑은 고딕" pitchFamily="34" charset="-122"/>
                <a:cs typeface="맑은 고딕" pitchFamily="34" charset="-120"/>
              </a:rPr>
              <a:t>Pinot Noir</a:t>
            </a:r>
            <a:endParaRPr lang="en-US" sz="950" dirty="0"/>
          </a:p>
        </p:txBody>
      </p:sp>
      <p:sp>
        <p:nvSpPr>
          <p:cNvPr id="23" name="Shape 19"/>
          <p:cNvSpPr/>
          <p:nvPr/>
        </p:nvSpPr>
        <p:spPr>
          <a:xfrm>
            <a:off x="1874520" y="2706624"/>
            <a:ext cx="4754880" cy="457200"/>
          </a:xfrm>
          <a:prstGeom prst="roundRect">
            <a:avLst>
              <a:gd name="adj" fmla="val 16000"/>
            </a:avLst>
          </a:prstGeom>
          <a:solidFill>
            <a:srgbClr val="FFFFFF">
              <a:alpha val="85000"/>
            </a:srgbClr>
          </a:solidFill>
          <a:ln w="6350">
            <a:solidFill>
              <a:srgbClr val="E0D5C8"/>
            </a:solidFill>
            <a:prstDash val="solid"/>
          </a:ln>
        </p:spPr>
      </p:sp>
      <p:sp>
        <p:nvSpPr>
          <p:cNvPr id="24" name="Shape 20"/>
          <p:cNvSpPr/>
          <p:nvPr/>
        </p:nvSpPr>
        <p:spPr>
          <a:xfrm>
            <a:off x="1938528" y="2761488"/>
            <a:ext cx="594360" cy="201168"/>
          </a:xfrm>
          <a:prstGeom prst="roundRect">
            <a:avLst>
              <a:gd name="adj" fmla="val 18182"/>
            </a:avLst>
          </a:prstGeom>
          <a:solidFill>
            <a:srgbClr val="722F37"/>
          </a:solidFill>
          <a:ln w="12700">
            <a:solidFill>
              <a:srgbClr val="333333"/>
            </a:solidFill>
            <a:prstDash val="solid"/>
          </a:ln>
        </p:spPr>
      </p:sp>
      <p:sp>
        <p:nvSpPr>
          <p:cNvPr id="25" name="Text 21"/>
          <p:cNvSpPr/>
          <p:nvPr/>
        </p:nvSpPr>
        <p:spPr>
          <a:xfrm>
            <a:off x="1938528" y="2761488"/>
            <a:ext cx="594360" cy="201168"/>
          </a:xfrm>
          <a:prstGeom prst="rect">
            <a:avLst/>
          </a:prstGeom>
          <a:noFill/>
          <a:ln/>
        </p:spPr>
        <p:txBody>
          <a:bodyPr wrap="square" rtlCol="0" anchor="ctr"/>
          <a:lstStyle/>
          <a:p>
            <a:pPr algn="ctr" indent="0" marL="0">
              <a:buNone/>
            </a:pPr>
            <a:r>
              <a:rPr lang="en-US" sz="850" b="1" dirty="0">
                <a:solidFill>
                  <a:srgbClr val="FFFFFF"/>
                </a:solidFill>
                <a:latin typeface="맑은 고딕" pitchFamily="34" charset="0"/>
                <a:ea typeface="맑은 고딕" pitchFamily="34" charset="-122"/>
                <a:cs typeface="맑은 고딕" pitchFamily="34" charset="-120"/>
              </a:rPr>
              <a:t> 빈티지 </a:t>
            </a:r>
            <a:endParaRPr lang="en-US" sz="850" dirty="0"/>
          </a:p>
        </p:txBody>
      </p:sp>
      <p:sp>
        <p:nvSpPr>
          <p:cNvPr id="26" name="Text 22"/>
          <p:cNvSpPr/>
          <p:nvPr/>
        </p:nvSpPr>
        <p:spPr>
          <a:xfrm>
            <a:off x="2606040" y="2724912"/>
            <a:ext cx="685800" cy="256032"/>
          </a:xfrm>
          <a:prstGeom prst="rect">
            <a:avLst/>
          </a:prstGeom>
          <a:noFill/>
          <a:ln/>
        </p:spPr>
        <p:txBody>
          <a:bodyPr wrap="square" rtlCol="0" anchor="ctr"/>
          <a:lstStyle/>
          <a:p>
            <a:pPr indent="0" marL="0">
              <a:buNone/>
            </a:pPr>
            <a:r>
              <a:rPr lang="en-US" sz="1300" b="1" dirty="0">
                <a:solidFill>
                  <a:srgbClr val="722F37"/>
                </a:solidFill>
                <a:latin typeface="맑은 고딕" pitchFamily="34" charset="0"/>
                <a:ea typeface="맑은 고딕" pitchFamily="34" charset="-122"/>
                <a:cs typeface="맑은 고딕" pitchFamily="34" charset="-120"/>
              </a:rPr>
              <a:t>2022</a:t>
            </a:r>
            <a:endParaRPr lang="en-US" sz="1300" dirty="0"/>
          </a:p>
        </p:txBody>
      </p:sp>
      <p:sp>
        <p:nvSpPr>
          <p:cNvPr id="27" name="Text 23"/>
          <p:cNvSpPr/>
          <p:nvPr/>
        </p:nvSpPr>
        <p:spPr>
          <a:xfrm>
            <a:off x="3337560" y="2743200"/>
            <a:ext cx="3200400" cy="365760"/>
          </a:xfrm>
          <a:prstGeom prst="rect">
            <a:avLst/>
          </a:prstGeom>
          <a:noFill/>
          <a:ln/>
        </p:spPr>
        <p:txBody>
          <a:bodyPr wrap="square" rtlCol="0" anchor="t"/>
          <a:lstStyle/>
          <a:p>
            <a:pPr indent="0" marL="0">
              <a:buNone/>
            </a:pPr>
            <a:r>
              <a:rPr lang="en-US" sz="800" dirty="0">
                <a:solidFill>
                  <a:srgbClr val="5A5A5A"/>
                </a:solidFill>
                <a:latin typeface="맑은 고딕" pitchFamily="34" charset="0"/>
                <a:ea typeface="맑은 고딕" pitchFamily="34" charset="-122"/>
                <a:cs typeface="맑은 고딕" pitchFamily="34" charset="-120"/>
              </a:rPr>
              <a:t>2022년은 부르고뉴 지역에서 도전적이면서도 흥미로운 빈티지로 평가됩니다. 봄철 서리 피해가 있었으나 여름철 적절한 강우량과 9월의 완벽한 수확 조건으로 포도 품질은 우수했습니다. 특히 피노 누아는 집중도 높은 과실미와 우아한 산도를 보여주며, 전체적으로 균형 잡힌 구조를 가진 와인이 생산되었습니다. 클래식한 부르고뉴 스타일을 잘 표현한 빈티지입니다.</a:t>
            </a:r>
            <a:endParaRPr lang="en-US" sz="800" dirty="0"/>
          </a:p>
        </p:txBody>
      </p:sp>
      <p:sp>
        <p:nvSpPr>
          <p:cNvPr id="28" name="Shape 24"/>
          <p:cNvSpPr/>
          <p:nvPr/>
        </p:nvSpPr>
        <p:spPr>
          <a:xfrm>
            <a:off x="1874520" y="3255264"/>
            <a:ext cx="4754880" cy="1508760"/>
          </a:xfrm>
          <a:prstGeom prst="roundRect">
            <a:avLst>
              <a:gd name="adj" fmla="val 4848"/>
            </a:avLst>
          </a:prstGeom>
          <a:solidFill>
            <a:srgbClr val="FFFFFF">
              <a:alpha val="85000"/>
            </a:srgbClr>
          </a:solidFill>
          <a:ln w="6350">
            <a:solidFill>
              <a:srgbClr val="E0D5C8"/>
            </a:solidFill>
            <a:prstDash val="solid"/>
          </a:ln>
        </p:spPr>
      </p:sp>
      <p:sp>
        <p:nvSpPr>
          <p:cNvPr id="29" name="Shape 25"/>
          <p:cNvSpPr/>
          <p:nvPr/>
        </p:nvSpPr>
        <p:spPr>
          <a:xfrm>
            <a:off x="1938528" y="3310128"/>
            <a:ext cx="502920" cy="201168"/>
          </a:xfrm>
          <a:prstGeom prst="roundRect">
            <a:avLst>
              <a:gd name="adj" fmla="val 18182"/>
            </a:avLst>
          </a:prstGeom>
          <a:solidFill>
            <a:srgbClr val="722F37"/>
          </a:solidFill>
          <a:ln w="12700">
            <a:solidFill>
              <a:srgbClr val="333333"/>
            </a:solidFill>
            <a:prstDash val="solid"/>
          </a:ln>
        </p:spPr>
      </p:sp>
      <p:sp>
        <p:nvSpPr>
          <p:cNvPr id="30" name="Text 26"/>
          <p:cNvSpPr/>
          <p:nvPr/>
        </p:nvSpPr>
        <p:spPr>
          <a:xfrm>
            <a:off x="1938528" y="3310128"/>
            <a:ext cx="502920" cy="201168"/>
          </a:xfrm>
          <a:prstGeom prst="rect">
            <a:avLst/>
          </a:prstGeom>
          <a:noFill/>
          <a:ln/>
        </p:spPr>
        <p:txBody>
          <a:bodyPr wrap="square" rtlCol="0" anchor="ctr"/>
          <a:lstStyle/>
          <a:p>
            <a:pPr algn="ctr" indent="0" marL="0">
              <a:buNone/>
            </a:pPr>
            <a:r>
              <a:rPr lang="en-US" sz="850" b="1" dirty="0">
                <a:solidFill>
                  <a:srgbClr val="FFFFFF"/>
                </a:solidFill>
                <a:latin typeface="맑은 고딕" pitchFamily="34" charset="0"/>
                <a:ea typeface="맑은 고딕" pitchFamily="34" charset="-122"/>
                <a:cs typeface="맑은 고딕" pitchFamily="34" charset="-120"/>
              </a:rPr>
              <a:t>  양조  </a:t>
            </a:r>
            <a:endParaRPr lang="en-US" sz="850" dirty="0"/>
          </a:p>
        </p:txBody>
      </p:sp>
      <p:sp>
        <p:nvSpPr>
          <p:cNvPr id="31" name="Text 27"/>
          <p:cNvSpPr/>
          <p:nvPr/>
        </p:nvSpPr>
        <p:spPr>
          <a:xfrm>
            <a:off x="1965960" y="3566160"/>
            <a:ext cx="4572000" cy="1124712"/>
          </a:xfrm>
          <a:prstGeom prst="rect">
            <a:avLst/>
          </a:prstGeom>
          <a:noFill/>
          <a:ln/>
        </p:spPr>
        <p:txBody>
          <a:bodyPr wrap="square" rtlCol="0" anchor="t"/>
          <a:lstStyle/>
          <a:p>
            <a:pPr indent="0" marL="0">
              <a:lnSpc>
                <a:spcPct val="120000"/>
              </a:lnSpc>
              <a:buNone/>
            </a:pPr>
            <a:r>
              <a:rPr lang="en-US" sz="900" dirty="0">
                <a:solidFill>
                  <a:srgbClr val="2C2C2C"/>
                </a:solidFill>
                <a:latin typeface="맑은 고딕" pitchFamily="34" charset="0"/>
                <a:ea typeface="맑은 고딕" pitchFamily="34" charset="-122"/>
                <a:cs typeface="맑은 고딕" pitchFamily="34" charset="-120"/>
              </a:rPr>
              <a:t>수확은 완전히 익은 피노 누아 포도를 손으로 선별하여 진행됩니다. 발효 전 저온 침용을 통해 색소와 아로마를 추출하고, 천연 효모로 발효를 진행합니다. 발효 중 적절한 피지아지를 통해 타닌과 색소를 부드럽게 추출하며, 말로락틱 발효를 거쳐 프렌치 오크통에서 12-15개월간 숙성합니다. 오크통은 신통과 구통을 적절히 조합하여 사용하며, 병입 전 최소한의 여과만을 거칩니다.</a:t>
            </a:r>
            <a:endParaRPr lang="en-US" sz="900" dirty="0"/>
          </a:p>
          <a:p>
            <a:pPr indent="0" marL="0">
              <a:lnSpc>
                <a:spcPct val="120000"/>
              </a:lnSpc>
              <a:buNone/>
            </a:pPr>
            <a:r>
              <a:rPr lang="en-US" sz="900" dirty="0">
                <a:solidFill>
                  <a:srgbClr val="2C2C2C"/>
                </a:solidFill>
                <a:latin typeface="맑은 고딕" pitchFamily="34" charset="0"/>
                <a:ea typeface="맑은 고딕" pitchFamily="34" charset="-122"/>
                <a:cs typeface="맑은 고딕" pitchFamily="34" charset="-120"/>
              </a:rPr>
              <a:t>알코올: 13%</a:t>
            </a:r>
            <a:endParaRPr lang="en-US" sz="900" dirty="0"/>
          </a:p>
        </p:txBody>
      </p:sp>
      <p:sp>
        <p:nvSpPr>
          <p:cNvPr id="32" name="Shape 28"/>
          <p:cNvSpPr/>
          <p:nvPr/>
        </p:nvSpPr>
        <p:spPr>
          <a:xfrm>
            <a:off x="1874520" y="4846320"/>
            <a:ext cx="4754880" cy="2487168"/>
          </a:xfrm>
          <a:prstGeom prst="roundRect">
            <a:avLst>
              <a:gd name="adj" fmla="val 2941"/>
            </a:avLst>
          </a:prstGeom>
          <a:solidFill>
            <a:srgbClr val="F2E8EA">
              <a:alpha val="70000"/>
            </a:srgbClr>
          </a:solidFill>
          <a:ln w="6350">
            <a:solidFill>
              <a:srgbClr val="E0D5C8"/>
            </a:solidFill>
            <a:prstDash val="solid"/>
          </a:ln>
        </p:spPr>
      </p:sp>
      <p:sp>
        <p:nvSpPr>
          <p:cNvPr id="33" name="Shape 29"/>
          <p:cNvSpPr/>
          <p:nvPr/>
        </p:nvSpPr>
        <p:spPr>
          <a:xfrm>
            <a:off x="1938528" y="4892040"/>
            <a:ext cx="1207008" cy="201168"/>
          </a:xfrm>
          <a:prstGeom prst="roundRect">
            <a:avLst>
              <a:gd name="adj" fmla="val 18182"/>
            </a:avLst>
          </a:prstGeom>
          <a:solidFill>
            <a:srgbClr val="722F37"/>
          </a:solidFill>
          <a:ln w="12700">
            <a:solidFill>
              <a:srgbClr val="333333"/>
            </a:solidFill>
            <a:prstDash val="solid"/>
          </a:ln>
        </p:spPr>
      </p:sp>
      <p:sp>
        <p:nvSpPr>
          <p:cNvPr id="34" name="Text 30"/>
          <p:cNvSpPr/>
          <p:nvPr/>
        </p:nvSpPr>
        <p:spPr>
          <a:xfrm>
            <a:off x="1938528" y="4892040"/>
            <a:ext cx="1207008" cy="201168"/>
          </a:xfrm>
          <a:prstGeom prst="rect">
            <a:avLst/>
          </a:prstGeom>
          <a:noFill/>
          <a:ln/>
        </p:spPr>
        <p:txBody>
          <a:bodyPr wrap="square" rtlCol="0" anchor="ctr"/>
          <a:lstStyle/>
          <a:p>
            <a:pPr algn="ctr" indent="0" marL="0">
              <a:buNone/>
            </a:pPr>
            <a:r>
              <a:rPr lang="en-US" sz="750" b="1" dirty="0">
                <a:solidFill>
                  <a:srgbClr val="FFFFFF"/>
                </a:solidFill>
                <a:latin typeface="Noto Sans KR" pitchFamily="34" charset="0"/>
                <a:ea typeface="Noto Sans KR" pitchFamily="34" charset="-122"/>
                <a:cs typeface="Noto Sans KR" pitchFamily="34" charset="-120"/>
              </a:rPr>
              <a:t>  TASTING NOTE  </a:t>
            </a:r>
            <a:endParaRPr lang="en-US" sz="750" dirty="0"/>
          </a:p>
        </p:txBody>
      </p:sp>
      <p:sp>
        <p:nvSpPr>
          <p:cNvPr id="35" name="Text 31"/>
          <p:cNvSpPr/>
          <p:nvPr/>
        </p:nvSpPr>
        <p:spPr>
          <a:xfrm>
            <a:off x="1965960" y="5138928"/>
            <a:ext cx="4572000" cy="2121408"/>
          </a:xfrm>
          <a:prstGeom prst="rect">
            <a:avLst/>
          </a:prstGeom>
          <a:noFill/>
          <a:ln/>
        </p:spPr>
        <p:txBody>
          <a:bodyPr wrap="square" rtlCol="0" anchor="t"/>
          <a:lstStyle/>
          <a:p>
            <a:pPr indent="0" marL="0">
              <a:lnSpc>
                <a:spcPct val="115000"/>
              </a:lnSpc>
              <a:buNone/>
            </a:pPr>
            <a:r>
              <a:rPr lang="en-US" sz="850" b="1" dirty="0">
                <a:solidFill>
                  <a:srgbClr val="722F37"/>
                </a:solidFill>
                <a:latin typeface="Noto Sans KR" pitchFamily="34" charset="0"/>
                <a:ea typeface="Noto Sans KR" pitchFamily="34" charset="-122"/>
                <a:cs typeface="Noto Sans KR" pitchFamily="34" charset="-120"/>
              </a:rPr>
              <a:t>Color</a:t>
            </a:r>
            <a:pPr indent="0" marL="0">
              <a:lnSpc>
                <a:spcPct val="115000"/>
              </a:lnSpc>
              <a:buNone/>
            </a:pPr>
            <a:endParaRPr lang="en-US" sz="850" dirty="0"/>
          </a:p>
          <a:p>
            <a:pPr indent="0" marL="0">
              <a:lnSpc>
                <a:spcPct val="115000"/>
              </a:lnSpc>
              <a:buNone/>
            </a:pPr>
            <a:r>
              <a:rPr lang="en-US" sz="900" dirty="0">
                <a:solidFill>
                  <a:srgbClr val="2C2C2C"/>
                </a:solidFill>
                <a:latin typeface="맑은 고딕" pitchFamily="34" charset="0"/>
                <a:ea typeface="맑은 고딕" pitchFamily="34" charset="-122"/>
                <a:cs typeface="맑은 고딕" pitchFamily="34" charset="-120"/>
              </a:rPr>
              <a:t>중간 정도의 강도를 가진 루비 레드 컬러로, 가장자리는 밝은 석류빛을 띱니다. 맑고 투명하며 우아한 광택을 보여줍니다.</a:t>
            </a:r>
            <a:endParaRPr lang="en-US" sz="850" dirty="0"/>
          </a:p>
          <a:p>
            <a:pPr indent="0" marL="0">
              <a:lnSpc>
                <a:spcPct val="115000"/>
              </a:lnSpc>
              <a:spcBef>
                <a:spcPts val="600"/>
              </a:spcBef>
              <a:buNone/>
            </a:pPr>
            <a:r>
              <a:rPr lang="en-US" sz="850" b="1" dirty="0">
                <a:solidFill>
                  <a:srgbClr val="722F37"/>
                </a:solidFill>
                <a:latin typeface="Noto Sans KR" pitchFamily="34" charset="0"/>
                <a:ea typeface="Noto Sans KR" pitchFamily="34" charset="-122"/>
                <a:cs typeface="Noto Sans KR" pitchFamily="34" charset="-120"/>
              </a:rPr>
              <a:t>Nose</a:t>
            </a:r>
            <a:pPr indent="0" marL="0">
              <a:lnSpc>
                <a:spcPct val="115000"/>
              </a:lnSpc>
              <a:buNone/>
            </a:pPr>
            <a:endParaRPr lang="en-US" sz="850" dirty="0"/>
          </a:p>
          <a:p>
            <a:pPr indent="0" marL="0">
              <a:lnSpc>
                <a:spcPct val="115000"/>
              </a:lnSpc>
              <a:buNone/>
            </a:pPr>
            <a:r>
              <a:rPr lang="en-US" sz="900" dirty="0">
                <a:solidFill>
                  <a:srgbClr val="2C2C2C"/>
                </a:solidFill>
                <a:latin typeface="맑은 고딕" pitchFamily="34" charset="0"/>
                <a:ea typeface="맑은 고딕" pitchFamily="34" charset="-122"/>
                <a:cs typeface="맑은 고딕" pitchFamily="34" charset="-120"/>
              </a:rPr>
              <a:t>숲속 토양의 향과 함께 풍부한 붉은 체리, 라즈베리의 과실향이 조화롭게 어우러집니다. 은은한 스파이시 오크향과 버섯, 낙엽 등의 언더우드 뉘앙스가 복합적인 아로마를 형성하며, 시간이 지나면서 바이올렛과 장미 꽃잎의 플로럴 노트가 나타납니다.</a:t>
            </a:r>
            <a:endParaRPr lang="en-US" sz="850" dirty="0"/>
          </a:p>
          <a:p>
            <a:pPr indent="0" marL="0">
              <a:lnSpc>
                <a:spcPct val="115000"/>
              </a:lnSpc>
              <a:spcBef>
                <a:spcPts val="600"/>
              </a:spcBef>
              <a:buNone/>
            </a:pPr>
            <a:r>
              <a:rPr lang="en-US" sz="850" b="1" dirty="0">
                <a:solidFill>
                  <a:srgbClr val="722F37"/>
                </a:solidFill>
                <a:latin typeface="Noto Sans KR" pitchFamily="34" charset="0"/>
                <a:ea typeface="Noto Sans KR" pitchFamily="34" charset="-122"/>
                <a:cs typeface="Noto Sans KR" pitchFamily="34" charset="-120"/>
              </a:rPr>
              <a:t>Palate</a:t>
            </a:r>
            <a:pPr indent="0" marL="0">
              <a:lnSpc>
                <a:spcPct val="115000"/>
              </a:lnSpc>
              <a:buNone/>
            </a:pPr>
            <a:endParaRPr lang="en-US" sz="850" dirty="0"/>
          </a:p>
          <a:p>
            <a:pPr indent="0" marL="0">
              <a:lnSpc>
                <a:spcPct val="115000"/>
              </a:lnSpc>
              <a:buNone/>
            </a:pPr>
            <a:r>
              <a:rPr lang="en-US" sz="900" dirty="0">
                <a:solidFill>
                  <a:srgbClr val="2C2C2C"/>
                </a:solidFill>
                <a:latin typeface="맑은 고딕" pitchFamily="34" charset="0"/>
                <a:ea typeface="맑은 고딕" pitchFamily="34" charset="-122"/>
                <a:cs typeface="맑은 고딕" pitchFamily="34" charset="-120"/>
              </a:rPr>
              <a:t>입안에서는 깊이 있고 풍부한 다크 베리류의 과실미가 벨벳처럼 부드러운 타닌과 함께 펼쳐집니다. 집중도 높은 미네랄리티와 생동감 있는 산도가 균형을 이루며, 중간 정도의 바디감으로 우아함과 힘을 동시에 보여줍니다. 피니시는 길고 섬세하며 여운에서 체리와 스파이스의 조화가 지속됩니다.</a:t>
            </a:r>
            <a:endParaRPr lang="en-US" sz="850" dirty="0"/>
          </a:p>
          <a:p>
            <a:pPr indent="0" marL="0">
              <a:lnSpc>
                <a:spcPct val="115000"/>
              </a:lnSpc>
              <a:spcBef>
                <a:spcPts val="600"/>
              </a:spcBef>
              <a:buNone/>
            </a:pPr>
            <a:r>
              <a:rPr lang="en-US" sz="850" b="1" dirty="0">
                <a:solidFill>
                  <a:srgbClr val="722F37"/>
                </a:solidFill>
                <a:latin typeface="Noto Sans KR" pitchFamily="34" charset="0"/>
                <a:ea typeface="Noto Sans KR" pitchFamily="34" charset="-122"/>
                <a:cs typeface="Noto Sans KR" pitchFamily="34" charset="-120"/>
              </a:rPr>
              <a:t>Potential</a:t>
            </a:r>
            <a:pPr indent="0" marL="0">
              <a:lnSpc>
                <a:spcPct val="115000"/>
              </a:lnSpc>
              <a:buNone/>
            </a:pPr>
            <a:endParaRPr lang="en-US" sz="850" dirty="0"/>
          </a:p>
          <a:p>
            <a:pPr indent="0" marL="0">
              <a:lnSpc>
                <a:spcPct val="115000"/>
              </a:lnSpc>
              <a:buNone/>
            </a:pPr>
            <a:r>
              <a:rPr lang="en-US" sz="900" dirty="0">
                <a:solidFill>
                  <a:srgbClr val="2C2C2C"/>
                </a:solidFill>
                <a:latin typeface="맑은 고딕" pitchFamily="34" charset="0"/>
                <a:ea typeface="맑은 고딕" pitchFamily="34" charset="-122"/>
                <a:cs typeface="맑은 고딕" pitchFamily="34" charset="-120"/>
              </a:rPr>
              <a:t>10-15년 숙성 가능하며, 5-7년 후부터 진정한 복합미를 발휘할 것으로 예상됩니다</a:t>
            </a:r>
            <a:endParaRPr lang="en-US" sz="850" dirty="0"/>
          </a:p>
          <a:p>
            <a:pPr indent="0" marL="0">
              <a:lnSpc>
                <a:spcPct val="115000"/>
              </a:lnSpc>
              <a:spcBef>
                <a:spcPts val="600"/>
              </a:spcBef>
              <a:buNone/>
            </a:pPr>
            <a:r>
              <a:rPr lang="en-US" sz="850" b="1" dirty="0">
                <a:solidFill>
                  <a:srgbClr val="722F37"/>
                </a:solidFill>
                <a:latin typeface="Noto Sans KR" pitchFamily="34" charset="0"/>
                <a:ea typeface="Noto Sans KR" pitchFamily="34" charset="-122"/>
                <a:cs typeface="Noto Sans KR" pitchFamily="34" charset="-120"/>
              </a:rPr>
              <a:t>Serving</a:t>
            </a:r>
            <a:pPr indent="0" marL="0">
              <a:lnSpc>
                <a:spcPct val="115000"/>
              </a:lnSpc>
              <a:buNone/>
            </a:pPr>
            <a:endParaRPr lang="en-US" sz="850" dirty="0"/>
          </a:p>
          <a:p>
            <a:pPr indent="0" marL="0">
              <a:lnSpc>
                <a:spcPct val="115000"/>
              </a:lnSpc>
              <a:buNone/>
            </a:pPr>
            <a:r>
              <a:rPr lang="en-US" sz="900" dirty="0">
                <a:solidFill>
                  <a:srgbClr val="2C2C2C"/>
                </a:solidFill>
                <a:latin typeface="맑은 고딕" pitchFamily="34" charset="0"/>
                <a:ea typeface="맑은 고딕" pitchFamily="34" charset="-122"/>
                <a:cs typeface="맑은 고딕" pitchFamily="34" charset="-120"/>
              </a:rPr>
              <a:t>16-18°C</a:t>
            </a:r>
            <a:endParaRPr lang="en-US" sz="850" dirty="0"/>
          </a:p>
        </p:txBody>
      </p:sp>
      <p:sp>
        <p:nvSpPr>
          <p:cNvPr id="36" name="Shape 32"/>
          <p:cNvSpPr/>
          <p:nvPr/>
        </p:nvSpPr>
        <p:spPr>
          <a:xfrm>
            <a:off x="1874520" y="7424928"/>
            <a:ext cx="4754880" cy="731520"/>
          </a:xfrm>
          <a:prstGeom prst="roundRect">
            <a:avLst>
              <a:gd name="adj" fmla="val 10000"/>
            </a:avLst>
          </a:prstGeom>
          <a:solidFill>
            <a:srgbClr val="FFFFFF">
              <a:alpha val="85000"/>
            </a:srgbClr>
          </a:solidFill>
          <a:ln w="6350">
            <a:solidFill>
              <a:srgbClr val="E0D5C8"/>
            </a:solidFill>
            <a:prstDash val="solid"/>
          </a:ln>
        </p:spPr>
      </p:sp>
      <p:sp>
        <p:nvSpPr>
          <p:cNvPr id="37" name="Shape 33"/>
          <p:cNvSpPr/>
          <p:nvPr/>
        </p:nvSpPr>
        <p:spPr>
          <a:xfrm>
            <a:off x="1938528" y="7479792"/>
            <a:ext cx="868680" cy="201168"/>
          </a:xfrm>
          <a:prstGeom prst="roundRect">
            <a:avLst>
              <a:gd name="adj" fmla="val 18182"/>
            </a:avLst>
          </a:prstGeom>
          <a:solidFill>
            <a:srgbClr val="722F37"/>
          </a:solidFill>
          <a:ln w="12700">
            <a:solidFill>
              <a:srgbClr val="333333"/>
            </a:solidFill>
            <a:prstDash val="solid"/>
          </a:ln>
        </p:spPr>
      </p:sp>
      <p:sp>
        <p:nvSpPr>
          <p:cNvPr id="38" name="Text 34"/>
          <p:cNvSpPr/>
          <p:nvPr/>
        </p:nvSpPr>
        <p:spPr>
          <a:xfrm>
            <a:off x="1938528" y="7479792"/>
            <a:ext cx="868680" cy="201168"/>
          </a:xfrm>
          <a:prstGeom prst="rect">
            <a:avLst/>
          </a:prstGeom>
          <a:noFill/>
          <a:ln/>
        </p:spPr>
        <p:txBody>
          <a:bodyPr wrap="square" rtlCol="0" anchor="ctr"/>
          <a:lstStyle/>
          <a:p>
            <a:pPr algn="ctr" indent="0" marL="0">
              <a:buNone/>
            </a:pPr>
            <a:r>
              <a:rPr lang="en-US" sz="850" b="1" dirty="0">
                <a:solidFill>
                  <a:srgbClr val="FFFFFF"/>
                </a:solidFill>
                <a:latin typeface="맑은 고딕" pitchFamily="34" charset="0"/>
                <a:ea typeface="맑은 고딕" pitchFamily="34" charset="-122"/>
                <a:cs typeface="맑은 고딕" pitchFamily="34" charset="-120"/>
              </a:rPr>
              <a:t>푸드 페어링</a:t>
            </a:r>
            <a:endParaRPr lang="en-US" sz="850" dirty="0"/>
          </a:p>
        </p:txBody>
      </p:sp>
      <p:sp>
        <p:nvSpPr>
          <p:cNvPr id="39" name="Text 35"/>
          <p:cNvSpPr/>
          <p:nvPr/>
        </p:nvSpPr>
        <p:spPr>
          <a:xfrm>
            <a:off x="1965960" y="7699248"/>
            <a:ext cx="4572000" cy="402336"/>
          </a:xfrm>
          <a:prstGeom prst="rect">
            <a:avLst/>
          </a:prstGeom>
          <a:noFill/>
          <a:ln/>
        </p:spPr>
        <p:txBody>
          <a:bodyPr wrap="square" rtlCol="0" anchor="t"/>
          <a:lstStyle/>
          <a:p>
            <a:pPr indent="0" marL="0">
              <a:lnSpc>
                <a:spcPct val="120000"/>
              </a:lnSpc>
              <a:buNone/>
            </a:pPr>
            <a:r>
              <a:rPr lang="en-US" sz="900" dirty="0">
                <a:solidFill>
                  <a:srgbClr val="2C2C2C"/>
                </a:solidFill>
                <a:latin typeface="맑은 고딕" pitchFamily="34" charset="0"/>
                <a:ea typeface="맑은 고딕" pitchFamily="34" charset="-122"/>
                <a:cs typeface="맑은 고딕" pitchFamily="34" charset="-120"/>
              </a:rPr>
              <a:t>오리 콩피, 소고기 부르기뇽, 양갈비 로스트, 숙성된 콩테 치즈, 버섯 리조또</a:t>
            </a:r>
            <a:endParaRPr lang="en-US" sz="900" dirty="0"/>
          </a:p>
        </p:txBody>
      </p:sp>
      <p:sp>
        <p:nvSpPr>
          <p:cNvPr id="40" name="Shape 36"/>
          <p:cNvSpPr/>
          <p:nvPr/>
        </p:nvSpPr>
        <p:spPr>
          <a:xfrm>
            <a:off x="137160" y="8266176"/>
            <a:ext cx="6583680" cy="347472"/>
          </a:xfrm>
          <a:prstGeom prst="roundRect">
            <a:avLst>
              <a:gd name="adj" fmla="val 10526"/>
            </a:avLst>
          </a:prstGeom>
          <a:solidFill>
            <a:srgbClr val="B8976A">
              <a:alpha val="15000"/>
            </a:srgbClr>
          </a:solidFill>
          <a:ln w="6350">
            <a:solidFill>
              <a:srgbClr val="D4C4A8"/>
            </a:solidFill>
            <a:prstDash val="solid"/>
          </a:ln>
        </p:spPr>
      </p:sp>
      <p:pic>
        <p:nvPicPr>
          <p:cNvPr id="41" name="Image 2" descr="preencoded.png">    </p:cNvPr>
          <p:cNvPicPr>
            <a:picLocks noChangeAspect="1"/>
          </p:cNvPicPr>
          <p:nvPr/>
        </p:nvPicPr>
        <p:blipFill>
          <a:blip r:embed="rId3"/>
          <a:stretch>
            <a:fillRect/>
          </a:stretch>
        </p:blipFill>
        <p:spPr>
          <a:xfrm>
            <a:off x="228600" y="8302752"/>
            <a:ext cx="201168" cy="256032"/>
          </a:xfrm>
          <a:prstGeom prst="rect">
            <a:avLst/>
          </a:prstGeom>
        </p:spPr>
      </p:pic>
      <p:sp>
        <p:nvSpPr>
          <p:cNvPr id="42" name="Text 37"/>
          <p:cNvSpPr/>
          <p:nvPr/>
        </p:nvSpPr>
        <p:spPr>
          <a:xfrm>
            <a:off x="475488" y="8293608"/>
            <a:ext cx="6126480" cy="274320"/>
          </a:xfrm>
          <a:prstGeom prst="rect">
            <a:avLst/>
          </a:prstGeom>
          <a:noFill/>
          <a:ln/>
        </p:spPr>
        <p:txBody>
          <a:bodyPr wrap="square" rtlCol="0" anchor="ctr"/>
          <a:lstStyle/>
          <a:p>
            <a:pPr indent="0" marL="0">
              <a:buNone/>
            </a:pPr>
            <a:r>
              <a:rPr lang="en-US" sz="800" b="1" dirty="0">
                <a:solidFill>
                  <a:srgbClr val="B8976A"/>
                </a:solidFill>
                <a:latin typeface="Noto Sans KR" pitchFamily="34" charset="0"/>
                <a:ea typeface="Noto Sans KR" pitchFamily="34" charset="-122"/>
                <a:cs typeface="Noto Sans KR" pitchFamily="34" charset="-120"/>
              </a:rPr>
              <a:t>AWARDS  </a:t>
            </a:r>
            <a:pPr indent="0" marL="0">
              <a:buNone/>
            </a:pPr>
            <a:r>
              <a:rPr lang="en-US" sz="900" dirty="0">
                <a:solidFill>
                  <a:srgbClr val="2C2C2C"/>
                </a:solidFill>
                <a:latin typeface="맑은 고딕" pitchFamily="34" charset="0"/>
                <a:ea typeface="맑은 고딕" pitchFamily="34" charset="-122"/>
                <a:cs typeface="맑은 고딕" pitchFamily="34" charset="-120"/>
              </a:rPr>
              <a:t>Wine-Searcher 기준 볼네이 클로 드 라 샤펠 와인 중 3번째로 높은 평가 (비평가 점수 기준)</a:t>
            </a:r>
            <a:endParaRPr lang="en-US" sz="800" dirty="0"/>
          </a:p>
        </p:txBody>
      </p:sp>
      <p:sp>
        <p:nvSpPr>
          <p:cNvPr id="43" name="Shape 38"/>
          <p:cNvSpPr/>
          <p:nvPr/>
        </p:nvSpPr>
        <p:spPr>
          <a:xfrm>
            <a:off x="182880" y="8705088"/>
            <a:ext cx="6492240" cy="0"/>
          </a:xfrm>
          <a:prstGeom prst="line">
            <a:avLst/>
          </a:prstGeom>
          <a:noFill/>
          <a:ln w="25400">
            <a:solidFill>
              <a:srgbClr val="722F37"/>
            </a:solidFill>
            <a:prstDash val="solid"/>
          </a:ln>
        </p:spPr>
      </p:sp>
      <p:sp>
        <p:nvSpPr>
          <p:cNvPr id="44" name="Shape 39"/>
          <p:cNvSpPr/>
          <p:nvPr/>
        </p:nvSpPr>
        <p:spPr>
          <a:xfrm>
            <a:off x="182880" y="8732520"/>
            <a:ext cx="6492240" cy="0"/>
          </a:xfrm>
          <a:prstGeom prst="line">
            <a:avLst/>
          </a:prstGeom>
          <a:noFill/>
          <a:ln w="9525">
            <a:solidFill>
              <a:srgbClr val="D4C4A8"/>
            </a:solidFill>
            <a:prstDash val="solid"/>
          </a:ln>
        </p:spPr>
      </p:sp>
      <p:pic>
        <p:nvPicPr>
          <p:cNvPr id="45" name="Image 3" descr="preencoded.png">    </p:cNvPr>
          <p:cNvPicPr>
            <a:picLocks noChangeAspect="1"/>
          </p:cNvPicPr>
          <p:nvPr/>
        </p:nvPicPr>
        <p:blipFill>
          <a:blip r:embed="rId4"/>
          <a:stretch>
            <a:fillRect/>
          </a:stretch>
        </p:blipFill>
        <p:spPr>
          <a:xfrm>
            <a:off x="82296" y="8851392"/>
            <a:ext cx="868680" cy="228600"/>
          </a:xfrm>
          <a:prstGeom prst="rect">
            <a:avLst/>
          </a:prstGeom>
        </p:spPr>
      </p:pic>
      <p:sp>
        <p:nvSpPr>
          <p:cNvPr id="46" name="Text 40"/>
          <p:cNvSpPr/>
          <p:nvPr/>
        </p:nvSpPr>
        <p:spPr>
          <a:xfrm>
            <a:off x="1024128" y="8860536"/>
            <a:ext cx="2523744" cy="219456"/>
          </a:xfrm>
          <a:prstGeom prst="rect">
            <a:avLst/>
          </a:prstGeom>
          <a:noFill/>
          <a:ln/>
        </p:spPr>
        <p:txBody>
          <a:bodyPr wrap="square" rtlCol="0" anchor="ctr"/>
          <a:lstStyle/>
          <a:p>
            <a:pPr algn="r" indent="0" marL="0">
              <a:buNone/>
            </a:pPr>
            <a:r>
              <a:rPr lang="en-US" sz="700" dirty="0">
                <a:solidFill>
                  <a:srgbClr val="8A8A8A"/>
                </a:solidFill>
                <a:latin typeface="Noto Sans KR" pitchFamily="34" charset="0"/>
                <a:ea typeface="Noto Sans KR" pitchFamily="34" charset="-122"/>
                <a:cs typeface="Noto Sans KR" pitchFamily="34" charset="-120"/>
              </a:rPr>
              <a:t>T. 02-786-3136  |  www.cavedevin.co.kr</a:t>
            </a:r>
            <a:endParaRPr lang="en-US" sz="700" dirty="0"/>
          </a:p>
        </p:txBody>
      </p:sp>
      <p:sp>
        <p:nvSpPr>
          <p:cNvPr id="47" name="Shape 41"/>
          <p:cNvSpPr/>
          <p:nvPr/>
        </p:nvSpPr>
        <p:spPr>
          <a:xfrm>
            <a:off x="6556248" y="8933688"/>
            <a:ext cx="54864" cy="54864"/>
          </a:xfrm>
          <a:prstGeom prst="diamond">
            <a:avLst/>
          </a:prstGeom>
          <a:solidFill>
            <a:srgbClr val="B8976A"/>
          </a:solidFill>
          <a:ln w="12700">
            <a:solidFill>
              <a:srgbClr val="333333"/>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까브드뱅</dc:creator>
  <cp:lastModifiedBy>까브드뱅</cp:lastModifiedBy>
  <cp:revision>1</cp:revision>
  <dcterms:created xsi:type="dcterms:W3CDTF">2026-02-11T12:51:32Z</dcterms:created>
  <dcterms:modified xsi:type="dcterms:W3CDTF">2026-02-11T12:51:32Z</dcterms:modified>
</cp:coreProperties>
</file>