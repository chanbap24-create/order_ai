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5F0E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37960" y="182880"/>
            <a:ext cx="54864" cy="521208"/>
          </a:xfrm>
          <a:prstGeom prst="round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9525">
            <a:solidFill>
              <a:srgbClr val="722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795528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886968"/>
            <a:ext cx="4754880" cy="694944"/>
          </a:xfrm>
          <a:prstGeom prst="roundRect">
            <a:avLst>
              <a:gd name="adj" fmla="val 10526"/>
            </a:avLst>
          </a:prstGeom>
          <a:solidFill>
            <a:srgbClr val="F2E8EA">
              <a:alpha val="80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923544"/>
            <a:ext cx="45720" cy="621792"/>
          </a:xfrm>
          <a:prstGeom prst="roundRect">
            <a:avLst>
              <a:gd name="adj" fmla="val 50000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914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5A25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뱅상 지라르댕 뫼르소 르 리모진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011680" y="124358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A5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Vincent Girardin Meursault Le Limozin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24528" y="1636776"/>
            <a:ext cx="64008" cy="64008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1664208"/>
            <a:ext cx="448056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17556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180136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18013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지역 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14600" y="17922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France, Meursault, Côte de Beaune, Burgundy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0" y="2148840"/>
            <a:ext cx="4480560" cy="0"/>
          </a:xfrm>
          <a:prstGeom prst="line">
            <a:avLst/>
          </a:prstGeom>
          <a:noFill/>
          <a:ln w="9525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38528" y="221284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22128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품종  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14600" y="220370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Chardonnay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74520" y="2706624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8528" y="2761488"/>
            <a:ext cx="59436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38528" y="276148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빈티지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06040" y="27249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22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874520" y="3255264"/>
            <a:ext cx="4754880" cy="1508760"/>
          </a:xfrm>
          <a:prstGeom prst="roundRect">
            <a:avLst>
              <a:gd name="adj" fmla="val 4848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38528" y="331012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38528" y="33101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양조  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65960" y="3566160"/>
            <a:ext cx="4572000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중순 수확한 샤르도네를 부드럽게 압착 후, 프렌치 오크통에서 자연 발효를 진행합니다. 말로락틱 발효를 거쳐 15-18개월간 오크 배럴에서 숙성하며, 이 중 20-30%는 새 오크통을 사용합니다. 정기적인 바토나주로 효모와의 접촉을 늘려 복합성과 질감을 향상시키고, 최종적으로 가벼운 여과 후 병입합니다.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알코올: 13.0%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74520" y="4846320"/>
            <a:ext cx="4754880" cy="2487168"/>
          </a:xfrm>
          <a:prstGeom prst="roundRect">
            <a:avLst>
              <a:gd name="adj" fmla="val 2941"/>
            </a:avLst>
          </a:prstGeom>
          <a:solidFill>
            <a:srgbClr val="F2E8EA">
              <a:alpha val="70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8528" y="4892040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8528" y="4892040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TASTING NOTE  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965960" y="5138928"/>
            <a:ext cx="457200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Color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밝은 황금빛 색조를 띠며, 글라스를 기울일 때 연한 녹색 반사광이 관찰됩니다. 점성이 적당하여 글라스 벽면에서 천천히 흘러내리는 모습을 보입니다.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트로피컬 과일의 향이 주도적이며, 파인애플, 망고, 패션프루트의 풍미가 두드러집니다. 오크 숙성에서 비롯된 가벼운 스모키함과 바닐라, 토스트 향이 조화롭게 어우러지며, 부르고뉴 특유의 미네랄리티와 꿀 향이 뒷받침됩니다.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Palate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입안에서는 복합적이고 층층이 쌓인 질감이 인상적입니다. 트로피컬 과일의 풍성함과 함께 레몬 제스트의 신선함이 균형을 이루며, 중간 정도의 산도가 구조를 잡아줍니다. 피니시는 길고 우아하며, 미네랄한 여운과 함께 은은한 스모키함이 지속됩니다.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Potential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5-8년 숙성 가능하며, 좋은 빈티지의 경우 10년까지도 숙성 잠재력을 지닙니다.</a:t>
            </a:r>
            <a:endParaRPr lang="en-US" sz="850" dirty="0"/>
          </a:p>
          <a:p>
            <a:pPr indent="0" marL="0">
              <a:lnSpc>
                <a:spcPct val="115000"/>
              </a:lnSpc>
              <a:spcBef>
                <a:spcPts val="600"/>
              </a:spcBef>
              <a:buNone/>
            </a:pPr>
            <a:r>
              <a:rPr lang="en-US" sz="850" b="1" dirty="0">
                <a:solidFill>
                  <a:srgbClr val="722F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pPr indent="0" marL="0">
              <a:lnSpc>
                <a:spcPct val="115000"/>
              </a:lnSpc>
              <a:buNone/>
            </a:pP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10-12°C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874520" y="742492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E0D5C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38528" y="7479792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722F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38528" y="747979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푸드 페어링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65960" y="7699248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랍스터 테르미도르, 송로버섯을 곁들인 닭가슴살 요리, 크림소스 파스타, 구운 도미, 숙성 치즈(콩테, 브리 드 모), 버터를 사용한 생선 요리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8266176"/>
            <a:ext cx="6583680" cy="347472"/>
          </a:xfrm>
          <a:prstGeom prst="roundRect">
            <a:avLst>
              <a:gd name="adj" fmla="val 10526"/>
            </a:avLst>
          </a:prstGeom>
          <a:solidFill>
            <a:srgbClr val="B8976A">
              <a:alpha val="15000"/>
            </a:srgbClr>
          </a:solidFill>
          <a:ln w="6350">
            <a:solidFill>
              <a:srgbClr val="D4C4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82936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8976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AWARDS  </a:t>
            </a:r>
            <a:pPr indent="0" marL="0">
              <a:buNone/>
            </a:pPr>
            <a:r>
              <a:rPr lang="en-US" sz="900" dirty="0">
                <a:solidFill>
                  <a:srgbClr val="2C2C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2010 빈티지 - International Wine Challenge 실버 메달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82880" y="8705088"/>
            <a:ext cx="6492240" cy="0"/>
          </a:xfrm>
          <a:prstGeom prst="line">
            <a:avLst/>
          </a:prstGeom>
          <a:noFill/>
          <a:ln w="25400">
            <a:solidFill>
              <a:srgbClr val="722F3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2880" y="8732520"/>
            <a:ext cx="6492240" cy="0"/>
          </a:xfrm>
          <a:prstGeom prst="line">
            <a:avLst/>
          </a:prstGeom>
          <a:noFill/>
          <a:ln w="9525">
            <a:solidFill>
              <a:srgbClr val="D4C4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" y="886053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T. 02-786-3136  |  www.cavedevin.co.kr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556248" y="8933688"/>
            <a:ext cx="54864" cy="54864"/>
          </a:xfrm>
          <a:prstGeom prst="diamond">
            <a:avLst/>
          </a:prstGeom>
          <a:solidFill>
            <a:srgbClr val="B8976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2026-02-11T09:16:28Z</dcterms:created>
  <dcterms:modified xsi:type="dcterms:W3CDTF">2026-02-11T09:16:28Z</dcterms:modified>
</cp:coreProperties>
</file>