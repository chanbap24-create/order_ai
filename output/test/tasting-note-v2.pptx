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82880"/>
            <a:ext cx="54864" cy="521208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362456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9344" y="1828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뱅상 지라르댕은 1980년 설립된 부르고뉴의 명문 와이너리로, 코트 도르 전역에서 약 20헥타르의 포도밭을 소유하고 있습니다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9525">
            <a:solidFill>
              <a:srgbClr val="722F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795528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74520" y="923544"/>
            <a:ext cx="45720" cy="621792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932688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VG 뱅상 지라르댕 뫼르소 르 리모진</a:t>
            </a:r>
            <a:pPr indent="0" marL="0">
              <a:spcBef>
                <a:spcPts val="200"/>
              </a:spcBef>
              <a:buNone/>
            </a:pPr>
            <a:r>
              <a:rPr lang="en-US" sz="1050" b="1" i="1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Vincent Girardin Meursault Le Limozin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011680" y="1664208"/>
            <a:ext cx="448056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19956" y="1632204"/>
            <a:ext cx="64008" cy="64008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74520" y="17556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645160000" dist="241935000" dir="486000000000">
              <a:srgbClr val="000000">
                <a:alpha val="8000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938528" y="180136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지역  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514600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Meursault, Côte de Beaune, Burgundy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011680" y="2148840"/>
            <a:ext cx="4480560" cy="0"/>
          </a:xfrm>
          <a:prstGeom prst="line">
            <a:avLst/>
          </a:prstGeom>
          <a:noFill/>
          <a:ln w="9525">
            <a:solidFill>
              <a:srgbClr val="E8DD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938528" y="221284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품종  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514600" y="2203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Chardonnay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874520" y="2706624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8193532000000" dist="3072574500000" dir="29160000000000000">
              <a:srgbClr val="000000">
                <a:alpha val="8000000000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938528" y="2761488"/>
            <a:ext cx="59436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빈티지 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606040" y="27249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00400" y="27432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뫼르소 지역은 석회질 토양의 특성상 빈티지별 기후 변화에 민감하게 반응합니다. 일반적으로 서늘한 해에는 더욱 우아하고 미네랄한 특성을, 따뜻한 해에는 더욱 풍성하고 트로피컬한 과실 풍미를 보여줍니다.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874520" y="3255264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04057856400000000" dist="39021696150000000" dir="1.7496e+21">
              <a:srgbClr val="000000">
                <a:alpha val="800000000000000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938528" y="331012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양조  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965960" y="3566160"/>
            <a:ext cx="457200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중순 수확한 샤르도네를 부드럽게 압착 후, 프렌치 오크통에서 자연 발효를 진행합니다. 말로락틱 발효를 거쳐 15-18개월간 오크 배럴에서 숙성하며, 이 중 20-30%는 새 오크통을 사용합니다. 정기적인 바토나주로 효모와의 접촉을 늘려 복합성과 질감을 향상시키고, 최종적으로 가벼운 여과 후 병입합니다.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13.0%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874520" y="4846320"/>
            <a:ext cx="4754880" cy="2487168"/>
          </a:xfrm>
          <a:prstGeom prst="roundRect">
            <a:avLst>
              <a:gd name="adj" fmla="val 2941"/>
            </a:avLst>
          </a:prstGeom>
          <a:solidFill>
            <a:srgbClr val="F2E8EA">
              <a:alpha val="7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32153477628e+21" dist="495575541105000000000" dir="1.04976e+26">
              <a:srgbClr val="000000">
                <a:alpha val="8e+23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938528" y="4892040"/>
            <a:ext cx="1207008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TASTING NOTE  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965960" y="5138928"/>
            <a:ext cx="45720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황금빛 색조를 띠며, 글라스를 기울일 때 연한 녹색 반사광이 관찰됩니다. 점성이 적당하여 글라스 벽면에서 천천히 흘러내리는 모습을 보입니다.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트로피컬 과일의 향이 주도적이며, 파인애플, 망고, 패션프루트의 풍미가 두드러집니다. 오크 숙성에서 비롯된 가벼운 스모키함과 바닐라, 토스트 향이 조화롭게 어우러지며, 부르고뉴 특유의 미네랄리티와 꿀 향이 뒷받침됩니다.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Palate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입안에서는 복합적이고 층층이 쌓인 질감이 인상적입니다. 트로피컬 과일의 풍성함과 함께 레몬 제스트의 신선함이 균형을 이루며, 중간 정도의 산도가 구조를 잡아줍니다. 피니시는 길고 우아하며, 미네랄한 여운과 함께 은은한 스모키함이 지속됩니다.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Potential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5-8년 숙성 가능하며, 좋은 빈티지의 경우 10년까지도 숙성 잠재력을 지닙니다.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10-12°C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874520" y="7424928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6783491658756e+25" dist="6.2938093720335e+24" dir="6.29856e+30">
              <a:srgbClr val="000000">
                <a:alpha val="8e+28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938528" y="7479792"/>
            <a:ext cx="86868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965960" y="769924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랍스터 테르미도르, 송로버섯을 곁들인 닭가슴살 요리, 크림소스 파스타, 구운 도미, 숙성 치즈(콩테, 브리 드 모), 버터를 사용한 생선 요리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37160" y="8266176"/>
            <a:ext cx="6583680" cy="347472"/>
          </a:xfrm>
          <a:prstGeom prst="roundRect">
            <a:avLst>
              <a:gd name="adj" fmla="val 10526"/>
            </a:avLst>
          </a:prstGeom>
          <a:solidFill>
            <a:srgbClr val="B8976A">
              <a:alpha val="15000"/>
            </a:srgbClr>
          </a:solidFill>
          <a:ln w="6350">
            <a:solidFill>
              <a:srgbClr val="D4C4A8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02752"/>
            <a:ext cx="201168" cy="25603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75488" y="8293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97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AWARDS  </a:t>
            </a:r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2010 빈티지 - International Wine Challenge 실버 메달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182880" y="8705088"/>
            <a:ext cx="6492240" cy="0"/>
          </a:xfrm>
          <a:prstGeom prst="line">
            <a:avLst/>
          </a:prstGeom>
          <a:noFill/>
          <a:ln w="25400">
            <a:solidFill>
              <a:srgbClr val="722F37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82880" y="8732520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8851392"/>
            <a:ext cx="868680" cy="2286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024128" y="886053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T. 02-786-3136  |  www.cavedevin.co.kr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6556248" y="8933688"/>
            <a:ext cx="54864" cy="54864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2026-02-11T05:50:07Z</dcterms:created>
  <dcterms:modified xsi:type="dcterms:W3CDTF">2026-02-11T05:50:07Z</dcterms:modified>
</cp:coreProperties>
</file>