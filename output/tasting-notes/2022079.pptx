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22960"/>
            <a:ext cx="1920240" cy="740664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980" y="118872"/>
            <a:ext cx="1031719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118872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Domaine Clos de la Chapelle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2011680" y="45720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Volnay, France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2880" y="768096"/>
            <a:ext cx="6492240" cy="0"/>
          </a:xfrm>
          <a:prstGeom prst="line">
            <a:avLst/>
          </a:prstGeom>
          <a:noFill/>
          <a:ln w="19050">
            <a:solidFill>
              <a:srgbClr val="8C95A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11680" y="905256"/>
            <a:ext cx="54864" cy="704088"/>
          </a:xfrm>
          <a:prstGeom prst="rect">
            <a:avLst/>
          </a:prstGeom>
          <a:solidFill>
            <a:srgbClr val="1F2A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194560" y="896112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도멘 클로 드 라 샤펠, 볼네 1er Cru "클로 드 라 샤펠" 모노폴
</a:t>
            </a:r>
            <a:pPr indent="0" marL="0">
              <a:buNone/>
            </a:pPr>
            <a:r>
              <a:rPr lang="en-US" sz="850" i="1" dirty="0">
                <a:solidFill>
                  <a:srgbClr val="5A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Domaine Clos de La Chapelle Volnay 1er Cru Clos de la Chapelle MP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148840" y="1719072"/>
            <a:ext cx="4480560" cy="0"/>
          </a:xfrm>
          <a:prstGeom prst="line">
            <a:avLst/>
          </a:prstGeom>
          <a:noFill/>
          <a:ln w="9525">
            <a:solidFill>
              <a:srgbClr val="8C95A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011680" y="178308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1680" y="1783080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779776" y="1783080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7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France, Volnay</a:t>
            </a:r>
            <a:endParaRPr lang="en-US" sz="797" dirty="0"/>
          </a:p>
        </p:txBody>
      </p:sp>
      <p:sp>
        <p:nvSpPr>
          <p:cNvPr id="13" name="Shape 10"/>
          <p:cNvSpPr/>
          <p:nvPr/>
        </p:nvSpPr>
        <p:spPr>
          <a:xfrm>
            <a:off x="2011680" y="2042384"/>
            <a:ext cx="4617720" cy="0"/>
          </a:xfrm>
          <a:prstGeom prst="line">
            <a:avLst/>
          </a:prstGeom>
          <a:noFill/>
          <a:ln w="5080">
            <a:solidFill>
              <a:srgbClr val="E8EB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11680" y="2146974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2146974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품종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779776" y="2146974"/>
            <a:ext cx="3849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97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Pinot Noir</a:t>
            </a:r>
            <a:endParaRPr lang="en-US" sz="797" dirty="0"/>
          </a:p>
        </p:txBody>
      </p:sp>
      <p:sp>
        <p:nvSpPr>
          <p:cNvPr id="17" name="Shape 14"/>
          <p:cNvSpPr/>
          <p:nvPr/>
        </p:nvSpPr>
        <p:spPr>
          <a:xfrm>
            <a:off x="2011680" y="2406279"/>
            <a:ext cx="4617720" cy="0"/>
          </a:xfrm>
          <a:prstGeom prst="line">
            <a:avLst/>
          </a:prstGeom>
          <a:noFill/>
          <a:ln w="5080">
            <a:solidFill>
              <a:srgbClr val="E8EBF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011680" y="2510869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011680" y="2510869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빈티지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2779776" y="2474293"/>
            <a:ext cx="914400" cy="274320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indent="0" marL="0">
              <a:buNone/>
            </a:pPr>
            <a:r>
              <a:rPr lang="en-US" sz="1175" b="1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175" dirty="0"/>
          </a:p>
        </p:txBody>
      </p:sp>
      <p:sp>
        <p:nvSpPr>
          <p:cNvPr id="21" name="Text 18"/>
          <p:cNvSpPr/>
          <p:nvPr/>
        </p:nvSpPr>
        <p:spPr>
          <a:xfrm>
            <a:off x="3794760" y="2510869"/>
            <a:ext cx="2788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72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2022년 부르고뉴는 온난하고 건조한 여름에도 놀라운 신선함과 균형을 갖춘 수작으로 평가받는다.</a:t>
            </a:r>
            <a:endParaRPr lang="en-US" sz="672" dirty="0"/>
          </a:p>
        </p:txBody>
      </p:sp>
      <p:sp>
        <p:nvSpPr>
          <p:cNvPr id="22" name="Shape 19"/>
          <p:cNvSpPr/>
          <p:nvPr/>
        </p:nvSpPr>
        <p:spPr>
          <a:xfrm>
            <a:off x="2011680" y="2770173"/>
            <a:ext cx="4617720" cy="0"/>
          </a:xfrm>
          <a:prstGeom prst="line">
            <a:avLst/>
          </a:prstGeom>
          <a:noFill/>
          <a:ln w="5080">
            <a:solidFill>
              <a:srgbClr val="E8EB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011680" y="2874763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1680" y="2874763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와이너리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2011680" y="3127064"/>
            <a:ext cx="4617720" cy="612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73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도멘 클로 드 라 샤펠은 마크 오코넬(Mark O'Connell)이 2011년 파트너 필립 르무아상, 피에르 뫼르제와 함께 볼네의 역사적 밭을 인수하며 설립한 도멘이다. 도멘의 이름이자 플래그십인 '클로 드 라 샤펠'은 밭을 둘러싼 담장 안의 예배당(chapelle)에서 유래했으며, 1937년에야 공식적으로 명명된 볼네 프르미에 크뤼 모노폴(단독 소유 밭)이다. 볼네 특유의 피네스와 아름다운 부케를 정교하게 담아내는 것으로 정평이 나 있다.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2011680" y="3907431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011680" y="3907431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양조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2011680" y="4159732"/>
            <a:ext cx="4617720" cy="810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6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0.56헥타르 규모의 단일 모노폴 밭에서 유기농·바이오다이나믹 농법으로 재배한 수령 약 50년의 피노 누아를 손수확한다. 수확 후 온도 조절 탱크에서 저온 침용을 거쳐 하루 1회 펀칭다운과 1회 펌핑오버로 약 3주간 발효하며, 이후 12~18개월간 숙성한 뒤 정제(fining)와 여과(filtration) 없이 병입한다. 남동향 노출과 석회질·백색 마를 토양, 밭을 둘러싼 높은 담장이 열을 반사해 조기 숙성을 돕는다. 연간 약 1,450병만 생산되는 희소한 와인이다.</a:t>
            </a:r>
            <a:endParaRPr lang="en-US" sz="806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6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Alc. 13%</a:t>
            </a:r>
            <a:endParaRPr lang="en-US" sz="806" dirty="0"/>
          </a:p>
        </p:txBody>
      </p:sp>
      <p:sp>
        <p:nvSpPr>
          <p:cNvPr id="29" name="Shape 26"/>
          <p:cNvSpPr/>
          <p:nvPr/>
        </p:nvSpPr>
        <p:spPr>
          <a:xfrm>
            <a:off x="2011680" y="5431133"/>
            <a:ext cx="54864" cy="2542435"/>
          </a:xfrm>
          <a:prstGeom prst="rect">
            <a:avLst/>
          </a:prstGeom>
          <a:solidFill>
            <a:srgbClr val="8C95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148840" y="5412845"/>
            <a:ext cx="120700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1F2A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148840" y="5412845"/>
            <a:ext cx="1207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41C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TASTING NOTE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2194560" y="5726555"/>
            <a:ext cx="4251960" cy="143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6" b="1" spc="200" kern="0" dirty="0">
                <a:solidFill>
                  <a:srgbClr val="8C9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COLOR</a:t>
            </a:r>
            <a:endParaRPr lang="en-US" sz="756" dirty="0"/>
          </a:p>
        </p:txBody>
      </p:sp>
      <p:sp>
        <p:nvSpPr>
          <p:cNvPr id="33" name="Text 30"/>
          <p:cNvSpPr/>
          <p:nvPr/>
        </p:nvSpPr>
        <p:spPr>
          <a:xfrm>
            <a:off x="2194560" y="5870481"/>
            <a:ext cx="4251960" cy="151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3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루비와 가넷이 어우러진 맑고 영롱한 색조.</a:t>
            </a:r>
            <a:endParaRPr lang="en-US" sz="823" dirty="0"/>
          </a:p>
        </p:txBody>
      </p:sp>
      <p:sp>
        <p:nvSpPr>
          <p:cNvPr id="34" name="Text 31"/>
          <p:cNvSpPr/>
          <p:nvPr/>
        </p:nvSpPr>
        <p:spPr>
          <a:xfrm>
            <a:off x="2194560" y="6227845"/>
            <a:ext cx="4251960" cy="143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6" b="1" spc="200" kern="0" dirty="0">
                <a:solidFill>
                  <a:srgbClr val="8C9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NOSE</a:t>
            </a:r>
            <a:endParaRPr lang="en-US" sz="756" dirty="0"/>
          </a:p>
        </p:txBody>
      </p:sp>
      <p:sp>
        <p:nvSpPr>
          <p:cNvPr id="35" name="Text 32"/>
          <p:cNvSpPr/>
          <p:nvPr/>
        </p:nvSpPr>
        <p:spPr>
          <a:xfrm>
            <a:off x="2194560" y="6371771"/>
            <a:ext cx="4251960" cy="45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3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 익은 붉은 베리와 체리, 라즈베리가 풍성하게 피어오르며 제비꽃과 장미의 플로럴 뉘앙스가 감돈다. 베이킹 스파이스와 샌달우드, 은은한 오크, 미네랄이 어우러져 우아하고 유혹적인 부케를 완성한다.</a:t>
            </a:r>
            <a:endParaRPr lang="en-US" sz="823" dirty="0"/>
          </a:p>
        </p:txBody>
      </p:sp>
      <p:sp>
        <p:nvSpPr>
          <p:cNvPr id="36" name="Text 33"/>
          <p:cNvSpPr/>
          <p:nvPr/>
        </p:nvSpPr>
        <p:spPr>
          <a:xfrm>
            <a:off x="2194560" y="7032126"/>
            <a:ext cx="4251960" cy="1439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6" b="1" spc="200" kern="0" dirty="0">
                <a:solidFill>
                  <a:srgbClr val="8C95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PALATE</a:t>
            </a:r>
            <a:endParaRPr lang="en-US" sz="756" dirty="0"/>
          </a:p>
        </p:txBody>
      </p:sp>
      <p:sp>
        <p:nvSpPr>
          <p:cNvPr id="37" name="Text 34"/>
          <p:cNvSpPr/>
          <p:nvPr/>
        </p:nvSpPr>
        <p:spPr>
          <a:xfrm>
            <a:off x="2194560" y="7176053"/>
            <a:ext cx="4251960" cy="4544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823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부드럽고 관대한 질감 위로 순수한 과실이 흐르며, 볼네 특유의 섬세하고 실키한 타닌이 초크처럼 결이 곱게 받쳐준다. 짜임새 있는 구조와 균형감이 뛰어나고, 신선한 산도가 생동감을 더하며 길고 여운이 남는 피니시로 마무리된다.</a:t>
            </a:r>
            <a:endParaRPr lang="en-US" sz="823" dirty="0"/>
          </a:p>
        </p:txBody>
      </p:sp>
      <p:sp>
        <p:nvSpPr>
          <p:cNvPr id="38" name="Shape 35"/>
          <p:cNvSpPr/>
          <p:nvPr/>
        </p:nvSpPr>
        <p:spPr>
          <a:xfrm>
            <a:off x="274320" y="8275320"/>
            <a:ext cx="6309360" cy="0"/>
          </a:xfrm>
          <a:prstGeom prst="line">
            <a:avLst/>
          </a:prstGeom>
          <a:noFill/>
          <a:ln w="6350">
            <a:solidFill>
              <a:srgbClr val="C9CEDA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375904"/>
            <a:ext cx="182880" cy="219456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93776" y="83393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F2A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AWARDS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1325880" y="8339328"/>
            <a:ext cx="5212080" cy="292608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Vivino 평균 평점 4.1점. 도멘 클로 드 라 샤펠의 플래그십 모노폴로, Wine Spectator는 인접 빈티지에 96점(2023), 인근 빈티지에 90점대 초중반의 높은 평가를 부여했으며 '2027~2045년 음용 적기'로…</a:t>
            </a:r>
            <a:endParaRPr lang="en-US" sz="850" dirty="0"/>
          </a:p>
        </p:txBody>
      </p:sp>
      <p:sp>
        <p:nvSpPr>
          <p:cNvPr id="42" name="Shape 38"/>
          <p:cNvSpPr/>
          <p:nvPr/>
        </p:nvSpPr>
        <p:spPr>
          <a:xfrm>
            <a:off x="274320" y="8686800"/>
            <a:ext cx="6309360" cy="0"/>
          </a:xfrm>
          <a:prstGeom prst="line">
            <a:avLst/>
          </a:prstGeom>
          <a:noFill/>
          <a:ln w="12700">
            <a:solidFill>
              <a:srgbClr val="8C95A8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759952"/>
            <a:ext cx="988322" cy="310896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3840480" y="8686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T. 02-786-3136  |  www.cavedevin.com</a:t>
            </a:r>
            <a:endParaRPr lang="en-US" sz="750" dirty="0"/>
          </a:p>
        </p:txBody>
      </p:sp>
      <p:pic>
        <p:nvPicPr>
          <p:cNvPr id="4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467" y="1783080"/>
            <a:ext cx="1546746" cy="6217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2026-09-09T01:28:35Z</dcterms:created>
  <dcterms:modified xsi:type="dcterms:W3CDTF">2026-09-09T01:28:35Z</dcterms:modified>
</cp:coreProperties>
</file>