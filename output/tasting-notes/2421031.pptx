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6858000" cy="9144000"/>
  <p:notesSz cx="9144000" cy="685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jpeg"/><Relationship Id="rId3" Type="http://schemas.openxmlformats.org/officeDocument/2006/relationships/image" Target="../media/image-1-3.jpeg"/><Relationship Id="rId4" Type="http://schemas.openxmlformats.org/officeDocument/2006/relationships/image" Target="../media/image-1-4.jpe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7F2"/>
        </a:solidFill>
      </p:bgPr>
    </p:bg>
    <p:spTree>
      <p:nvGrpSpPr>
        <p:cNvPr id="1" name=""/>
        <p:cNvGrpSpPr/>
        <p:nvPr/>
      </p:nvGrpSpPr>
      <p:grpSpPr>
        <a:xfrm>
          <a:off x="0" y="0"/>
          <a:ext cx="0" cy="0"/>
          <a:chOff x="0" y="0"/>
          <a:chExt cx="0" cy="0"/>
        </a:xfrm>
      </p:grpSpPr>
      <p:sp>
        <p:nvSpPr>
          <p:cNvPr id="2" name="Shape 0"/>
          <p:cNvSpPr/>
          <p:nvPr/>
        </p:nvSpPr>
        <p:spPr>
          <a:xfrm>
            <a:off x="0" y="822960"/>
            <a:ext cx="1920240" cy="7406640"/>
          </a:xfrm>
          <a:prstGeom prst="rect">
            <a:avLst/>
          </a:prstGeom>
          <a:solidFill>
            <a:srgbClr val="F5F0EA">
              <a:alpha val="60000"/>
            </a:srgbClr>
          </a:solidFill>
          <a:ln w="12700">
            <a:solidFill>
              <a:srgbClr val="333333"/>
            </a:solidFill>
            <a:prstDash val="solid"/>
          </a:ln>
        </p:spPr>
      </p:sp>
      <p:sp>
        <p:nvSpPr>
          <p:cNvPr id="3" name="Shape 1"/>
          <p:cNvSpPr/>
          <p:nvPr/>
        </p:nvSpPr>
        <p:spPr>
          <a:xfrm>
            <a:off x="6537960" y="182880"/>
            <a:ext cx="54864" cy="521208"/>
          </a:xfrm>
          <a:prstGeom prst="roundRect">
            <a:avLst>
              <a:gd name="adj" fmla="val 50000"/>
            </a:avLst>
          </a:prstGeom>
          <a:solidFill>
            <a:srgbClr val="722F37"/>
          </a:solidFill>
          <a:ln w="12700">
            <a:solidFill>
              <a:srgbClr val="333333"/>
            </a:solidFill>
            <a:prstDash val="solid"/>
          </a:ln>
        </p:spPr>
      </p:sp>
      <p:pic>
        <p:nvPicPr>
          <p:cNvPr id="4" name="Image 0" descr="preencoded.png">    </p:cNvPr>
          <p:cNvPicPr>
            <a:picLocks noChangeAspect="1"/>
          </p:cNvPicPr>
          <p:nvPr/>
        </p:nvPicPr>
        <p:blipFill>
          <a:blip r:embed="rId1"/>
          <a:stretch>
            <a:fillRect/>
          </a:stretch>
        </p:blipFill>
        <p:spPr>
          <a:xfrm>
            <a:off x="182880" y="182880"/>
            <a:ext cx="1362456" cy="521208"/>
          </a:xfrm>
          <a:prstGeom prst="rect">
            <a:avLst/>
          </a:prstGeom>
        </p:spPr>
      </p:pic>
      <p:sp>
        <p:nvSpPr>
          <p:cNvPr id="5" name="Text 2"/>
          <p:cNvSpPr/>
          <p:nvPr/>
        </p:nvSpPr>
        <p:spPr>
          <a:xfrm>
            <a:off x="1609344" y="182880"/>
            <a:ext cx="4754880" cy="219456"/>
          </a:xfrm>
          <a:prstGeom prst="rect">
            <a:avLst/>
          </a:prstGeom>
          <a:noFill/>
          <a:ln/>
        </p:spPr>
        <p:txBody>
          <a:bodyPr wrap="square" rtlCol="0" anchor="ctr"/>
          <a:lstStyle/>
          <a:p>
            <a:pPr indent="0" marL="0">
              <a:buNone/>
            </a:pPr>
            <a:r>
              <a:rPr lang="en-US" sz="900" i="1" dirty="0">
                <a:solidFill>
                  <a:srgbClr val="8A8A8A"/>
                </a:solidFill>
                <a:latin typeface="Noto Sans KR" pitchFamily="34" charset="0"/>
                <a:ea typeface="Noto Sans KR" pitchFamily="34" charset="-122"/>
                <a:cs typeface="Noto Sans KR" pitchFamily="34" charset="-120"/>
              </a:rPr>
              <a:t>스몰 바인즈는 소노마 코스트의 특별한 단일 밭에서 소량 생산되는 프리미엄 피노 누아를 전문으로 하는 부티크 와이너리입니다</a:t>
            </a:r>
            <a:endParaRPr lang="en-US" sz="900" dirty="0"/>
          </a:p>
        </p:txBody>
      </p:sp>
      <p:sp>
        <p:nvSpPr>
          <p:cNvPr id="6" name="Shape 3"/>
          <p:cNvSpPr/>
          <p:nvPr/>
        </p:nvSpPr>
        <p:spPr>
          <a:xfrm>
            <a:off x="182880" y="768096"/>
            <a:ext cx="6492240" cy="0"/>
          </a:xfrm>
          <a:prstGeom prst="line">
            <a:avLst/>
          </a:prstGeom>
          <a:noFill/>
          <a:ln w="9525">
            <a:solidFill>
              <a:srgbClr val="722F37"/>
            </a:solidFill>
            <a:prstDash val="solid"/>
          </a:ln>
        </p:spPr>
      </p:sp>
      <p:sp>
        <p:nvSpPr>
          <p:cNvPr id="7" name="Shape 4"/>
          <p:cNvSpPr/>
          <p:nvPr/>
        </p:nvSpPr>
        <p:spPr>
          <a:xfrm>
            <a:off x="182880" y="795528"/>
            <a:ext cx="6492240" cy="0"/>
          </a:xfrm>
          <a:prstGeom prst="line">
            <a:avLst/>
          </a:prstGeom>
          <a:noFill/>
          <a:ln w="9525">
            <a:solidFill>
              <a:srgbClr val="D4C4A8"/>
            </a:solidFill>
            <a:prstDash val="solid"/>
          </a:ln>
        </p:spPr>
      </p:sp>
      <p:sp>
        <p:nvSpPr>
          <p:cNvPr id="8" name="Shape 5"/>
          <p:cNvSpPr/>
          <p:nvPr/>
        </p:nvSpPr>
        <p:spPr>
          <a:xfrm>
            <a:off x="1874520" y="886968"/>
            <a:ext cx="4754880" cy="694944"/>
          </a:xfrm>
          <a:prstGeom prst="roundRect">
            <a:avLst>
              <a:gd name="adj" fmla="val 10526"/>
            </a:avLst>
          </a:prstGeom>
          <a:solidFill>
            <a:srgbClr val="F2E8EA">
              <a:alpha val="80000"/>
            </a:srgbClr>
          </a:solidFill>
          <a:ln w="6350">
            <a:solidFill>
              <a:srgbClr val="E0D5C8"/>
            </a:solidFill>
            <a:prstDash val="solid"/>
          </a:ln>
          <a:effectLst>
            <a:outerShdw sx="100000" sy="100000" kx="0" ky="0" algn="bl" rotWithShape="0" blurRad="50800" dist="19050" dir="8100000">
              <a:srgbClr val="000000">
                <a:alpha val="8000"/>
              </a:srgbClr>
            </a:outerShdw>
          </a:effectLst>
        </p:spPr>
      </p:sp>
      <p:sp>
        <p:nvSpPr>
          <p:cNvPr id="9" name="Shape 6"/>
          <p:cNvSpPr/>
          <p:nvPr/>
        </p:nvSpPr>
        <p:spPr>
          <a:xfrm>
            <a:off x="1874520" y="923544"/>
            <a:ext cx="45720" cy="621792"/>
          </a:xfrm>
          <a:prstGeom prst="roundRect">
            <a:avLst>
              <a:gd name="adj" fmla="val 50000"/>
            </a:avLst>
          </a:prstGeom>
          <a:solidFill>
            <a:srgbClr val="722F37"/>
          </a:solidFill>
          <a:ln w="12700">
            <a:solidFill>
              <a:srgbClr val="333333"/>
            </a:solidFill>
            <a:prstDash val="solid"/>
          </a:ln>
        </p:spPr>
      </p:sp>
      <p:sp>
        <p:nvSpPr>
          <p:cNvPr id="10" name="Text 7"/>
          <p:cNvSpPr/>
          <p:nvPr/>
        </p:nvSpPr>
        <p:spPr>
          <a:xfrm>
            <a:off x="2011680" y="914400"/>
            <a:ext cx="4480560" cy="329184"/>
          </a:xfrm>
          <a:prstGeom prst="rect">
            <a:avLst/>
          </a:prstGeom>
          <a:noFill/>
          <a:ln/>
        </p:spPr>
        <p:txBody>
          <a:bodyPr wrap="square" rtlCol="0" anchor="b"/>
          <a:lstStyle/>
          <a:p>
            <a:pPr indent="0" marL="0">
              <a:buNone/>
            </a:pPr>
            <a:r>
              <a:rPr lang="en-US" sz="1450" b="1" dirty="0">
                <a:solidFill>
                  <a:srgbClr val="5A252C"/>
                </a:solidFill>
                <a:latin typeface="맑은 고딕" pitchFamily="34" charset="0"/>
                <a:ea typeface="맑은 고딕" pitchFamily="34" charset="-122"/>
                <a:cs typeface="맑은 고딕" pitchFamily="34" charset="-120"/>
              </a:rPr>
              <a:t>스몰 바인즈 TBH 빈야드 소노마 코스트 피노 누아</a:t>
            </a:r>
            <a:endParaRPr lang="en-US" sz="1450" dirty="0"/>
          </a:p>
        </p:txBody>
      </p:sp>
      <p:sp>
        <p:nvSpPr>
          <p:cNvPr id="11" name="Text 8"/>
          <p:cNvSpPr/>
          <p:nvPr/>
        </p:nvSpPr>
        <p:spPr>
          <a:xfrm>
            <a:off x="2011680" y="1243584"/>
            <a:ext cx="4480560" cy="274320"/>
          </a:xfrm>
          <a:prstGeom prst="rect">
            <a:avLst/>
          </a:prstGeom>
          <a:noFill/>
          <a:ln/>
        </p:spPr>
        <p:txBody>
          <a:bodyPr wrap="square" rtlCol="0" anchor="t"/>
          <a:lstStyle/>
          <a:p>
            <a:pPr indent="0" marL="0">
              <a:buNone/>
            </a:pPr>
            <a:r>
              <a:rPr lang="en-US" sz="1050" b="1" i="1" dirty="0">
                <a:solidFill>
                  <a:srgbClr val="5A5A5A"/>
                </a:solidFill>
                <a:latin typeface="맑은 고딕" pitchFamily="34" charset="0"/>
                <a:ea typeface="맑은 고딕" pitchFamily="34" charset="-122"/>
                <a:cs typeface="맑은 고딕" pitchFamily="34" charset="-120"/>
              </a:rPr>
              <a:t>Small Vines TBH Vineyard Pinot Noir</a:t>
            </a:r>
            <a:endParaRPr lang="en-US" sz="1050" dirty="0"/>
          </a:p>
        </p:txBody>
      </p:sp>
      <p:pic>
        <p:nvPicPr>
          <p:cNvPr id="12" name="Image 1" descr="preencoded.png">    </p:cNvPr>
          <p:cNvPicPr>
            <a:picLocks noChangeAspect="1"/>
          </p:cNvPicPr>
          <p:nvPr/>
        </p:nvPicPr>
        <p:blipFill>
          <a:blip r:embed="rId2"/>
          <a:srcRect l="0" r="0" t="0" b="0"/>
          <a:stretch/>
        </p:blipFill>
        <p:spPr>
          <a:xfrm>
            <a:off x="274320" y="2011680"/>
            <a:ext cx="1371600" cy="5303520"/>
          </a:xfrm>
          <a:prstGeom prst="rect">
            <a:avLst/>
          </a:prstGeom>
        </p:spPr>
      </p:pic>
      <p:sp>
        <p:nvSpPr>
          <p:cNvPr id="13" name="Shape 9"/>
          <p:cNvSpPr/>
          <p:nvPr/>
        </p:nvSpPr>
        <p:spPr>
          <a:xfrm>
            <a:off x="2011680" y="1664208"/>
            <a:ext cx="4480560" cy="0"/>
          </a:xfrm>
          <a:prstGeom prst="line">
            <a:avLst/>
          </a:prstGeom>
          <a:noFill/>
          <a:ln w="9525">
            <a:solidFill>
              <a:srgbClr val="D4C4A8"/>
            </a:solidFill>
            <a:prstDash val="solid"/>
          </a:ln>
        </p:spPr>
      </p:sp>
      <p:sp>
        <p:nvSpPr>
          <p:cNvPr id="14" name="Shape 10"/>
          <p:cNvSpPr/>
          <p:nvPr/>
        </p:nvSpPr>
        <p:spPr>
          <a:xfrm>
            <a:off x="4219956" y="1632204"/>
            <a:ext cx="64008" cy="64008"/>
          </a:xfrm>
          <a:prstGeom prst="diamond">
            <a:avLst/>
          </a:prstGeom>
          <a:solidFill>
            <a:srgbClr val="B8976A"/>
          </a:solidFill>
          <a:ln w="12700">
            <a:solidFill>
              <a:srgbClr val="333333"/>
            </a:solidFill>
            <a:prstDash val="solid"/>
          </a:ln>
        </p:spPr>
      </p:sp>
      <p:sp>
        <p:nvSpPr>
          <p:cNvPr id="15" name="Shape 11"/>
          <p:cNvSpPr/>
          <p:nvPr/>
        </p:nvSpPr>
        <p:spPr>
          <a:xfrm>
            <a:off x="1874520" y="1755648"/>
            <a:ext cx="4754880" cy="868680"/>
          </a:xfrm>
          <a:prstGeom prst="roundRect">
            <a:avLst>
              <a:gd name="adj" fmla="val 8421"/>
            </a:avLst>
          </a:prstGeom>
          <a:solidFill>
            <a:srgbClr val="FFFFFF">
              <a:alpha val="85000"/>
            </a:srgbClr>
          </a:solidFill>
          <a:ln w="6350">
            <a:solidFill>
              <a:srgbClr val="E0D5C8"/>
            </a:solidFill>
            <a:prstDash val="solid"/>
          </a:ln>
          <a:effectLst>
            <a:outerShdw sx="100000" sy="100000" kx="0" ky="0" algn="bl" rotWithShape="0" blurRad="645160000" dist="241935000" dir="486000000000">
              <a:srgbClr val="000000">
                <a:alpha val="800000000"/>
              </a:srgbClr>
            </a:outerShdw>
          </a:effectLst>
        </p:spPr>
      </p:sp>
      <p:sp>
        <p:nvSpPr>
          <p:cNvPr id="16" name="Shape 12"/>
          <p:cNvSpPr/>
          <p:nvPr/>
        </p:nvSpPr>
        <p:spPr>
          <a:xfrm>
            <a:off x="1938528" y="1801368"/>
            <a:ext cx="502920" cy="201168"/>
          </a:xfrm>
          <a:prstGeom prst="roundRect">
            <a:avLst>
              <a:gd name="adj" fmla="val 18182"/>
            </a:avLst>
          </a:prstGeom>
          <a:solidFill>
            <a:srgbClr val="722F37"/>
          </a:solidFill>
          <a:ln w="12700">
            <a:solidFill>
              <a:srgbClr val="333333"/>
            </a:solidFill>
            <a:prstDash val="solid"/>
          </a:ln>
        </p:spPr>
      </p:sp>
      <p:sp>
        <p:nvSpPr>
          <p:cNvPr id="17" name="Text 13"/>
          <p:cNvSpPr/>
          <p:nvPr/>
        </p:nvSpPr>
        <p:spPr>
          <a:xfrm>
            <a:off x="1938528" y="1801368"/>
            <a:ext cx="502920" cy="201168"/>
          </a:xfrm>
          <a:prstGeom prst="rect">
            <a:avLst/>
          </a:prstGeom>
          <a:noFill/>
          <a:ln/>
        </p:spPr>
        <p:txBody>
          <a:bodyPr wrap="square" rtlCol="0" anchor="ctr"/>
          <a:lstStyle/>
          <a:p>
            <a:pPr algn="ctr" indent="0" marL="0">
              <a:buNone/>
            </a:pPr>
            <a:r>
              <a:rPr lang="en-US" sz="850" b="1" dirty="0">
                <a:solidFill>
                  <a:srgbClr val="FFFFFF"/>
                </a:solidFill>
                <a:latin typeface="맑은 고딕" pitchFamily="34" charset="0"/>
                <a:ea typeface="맑은 고딕" pitchFamily="34" charset="-122"/>
                <a:cs typeface="맑은 고딕" pitchFamily="34" charset="-120"/>
              </a:rPr>
              <a:t>  지역  </a:t>
            </a:r>
            <a:endParaRPr lang="en-US" sz="850" dirty="0"/>
          </a:p>
        </p:txBody>
      </p:sp>
      <p:sp>
        <p:nvSpPr>
          <p:cNvPr id="18" name="Text 14"/>
          <p:cNvSpPr/>
          <p:nvPr/>
        </p:nvSpPr>
        <p:spPr>
          <a:xfrm>
            <a:off x="2514600" y="1792224"/>
            <a:ext cx="4023360" cy="219456"/>
          </a:xfrm>
          <a:prstGeom prst="rect">
            <a:avLst/>
          </a:prstGeom>
          <a:noFill/>
          <a:ln/>
        </p:spPr>
        <p:txBody>
          <a:bodyPr wrap="square" rtlCol="0" anchor="ctr"/>
          <a:lstStyle/>
          <a:p>
            <a:pPr indent="0" marL="0">
              <a:buNone/>
            </a:pPr>
            <a:r>
              <a:rPr lang="en-US" sz="950" dirty="0">
                <a:solidFill>
                  <a:srgbClr val="2C2C2C"/>
                </a:solidFill>
                <a:latin typeface="맑은 고딕" pitchFamily="34" charset="0"/>
                <a:ea typeface="맑은 고딕" pitchFamily="34" charset="-122"/>
                <a:cs typeface="맑은 고딕" pitchFamily="34" charset="-120"/>
              </a:rPr>
              <a:t>United States, Sonoma Coast, California</a:t>
            </a:r>
            <a:endParaRPr lang="en-US" sz="950" dirty="0"/>
          </a:p>
        </p:txBody>
      </p:sp>
      <p:sp>
        <p:nvSpPr>
          <p:cNvPr id="19" name="Shape 15"/>
          <p:cNvSpPr/>
          <p:nvPr/>
        </p:nvSpPr>
        <p:spPr>
          <a:xfrm>
            <a:off x="2011680" y="2148840"/>
            <a:ext cx="4480560" cy="0"/>
          </a:xfrm>
          <a:prstGeom prst="line">
            <a:avLst/>
          </a:prstGeom>
          <a:noFill/>
          <a:ln w="9525">
            <a:solidFill>
              <a:srgbClr val="E8DDD0"/>
            </a:solidFill>
            <a:prstDash val="solid"/>
          </a:ln>
        </p:spPr>
      </p:sp>
      <p:sp>
        <p:nvSpPr>
          <p:cNvPr id="20" name="Shape 16"/>
          <p:cNvSpPr/>
          <p:nvPr/>
        </p:nvSpPr>
        <p:spPr>
          <a:xfrm>
            <a:off x="1938528" y="2212848"/>
            <a:ext cx="502920" cy="201168"/>
          </a:xfrm>
          <a:prstGeom prst="roundRect">
            <a:avLst>
              <a:gd name="adj" fmla="val 18182"/>
            </a:avLst>
          </a:prstGeom>
          <a:solidFill>
            <a:srgbClr val="722F37"/>
          </a:solidFill>
          <a:ln w="12700">
            <a:solidFill>
              <a:srgbClr val="333333"/>
            </a:solidFill>
            <a:prstDash val="solid"/>
          </a:ln>
        </p:spPr>
      </p:sp>
      <p:sp>
        <p:nvSpPr>
          <p:cNvPr id="21" name="Text 17"/>
          <p:cNvSpPr/>
          <p:nvPr/>
        </p:nvSpPr>
        <p:spPr>
          <a:xfrm>
            <a:off x="1938528" y="2212848"/>
            <a:ext cx="502920" cy="201168"/>
          </a:xfrm>
          <a:prstGeom prst="rect">
            <a:avLst/>
          </a:prstGeom>
          <a:noFill/>
          <a:ln/>
        </p:spPr>
        <p:txBody>
          <a:bodyPr wrap="square" rtlCol="0" anchor="ctr"/>
          <a:lstStyle/>
          <a:p>
            <a:pPr algn="ctr" indent="0" marL="0">
              <a:buNone/>
            </a:pPr>
            <a:r>
              <a:rPr lang="en-US" sz="850" b="1" dirty="0">
                <a:solidFill>
                  <a:srgbClr val="FFFFFF"/>
                </a:solidFill>
                <a:latin typeface="맑은 고딕" pitchFamily="34" charset="0"/>
                <a:ea typeface="맑은 고딕" pitchFamily="34" charset="-122"/>
                <a:cs typeface="맑은 고딕" pitchFamily="34" charset="-120"/>
              </a:rPr>
              <a:t>  품종  </a:t>
            </a:r>
            <a:endParaRPr lang="en-US" sz="850" dirty="0"/>
          </a:p>
        </p:txBody>
      </p:sp>
      <p:sp>
        <p:nvSpPr>
          <p:cNvPr id="22" name="Text 18"/>
          <p:cNvSpPr/>
          <p:nvPr/>
        </p:nvSpPr>
        <p:spPr>
          <a:xfrm>
            <a:off x="2514600" y="2203704"/>
            <a:ext cx="4023360" cy="365760"/>
          </a:xfrm>
          <a:prstGeom prst="rect">
            <a:avLst/>
          </a:prstGeom>
          <a:noFill/>
          <a:ln/>
        </p:spPr>
        <p:txBody>
          <a:bodyPr wrap="square" rtlCol="0" anchor="t"/>
          <a:lstStyle/>
          <a:p>
            <a:pPr indent="0" marL="0">
              <a:buNone/>
            </a:pPr>
            <a:r>
              <a:rPr lang="en-US" sz="950" dirty="0">
                <a:solidFill>
                  <a:srgbClr val="2C2C2C"/>
                </a:solidFill>
                <a:latin typeface="맑은 고딕" pitchFamily="34" charset="0"/>
                <a:ea typeface="맑은 고딕" pitchFamily="34" charset="-122"/>
                <a:cs typeface="맑은 고딕" pitchFamily="34" charset="-120"/>
              </a:rPr>
              <a:t>Pinot Noir</a:t>
            </a:r>
            <a:endParaRPr lang="en-US" sz="950" dirty="0"/>
          </a:p>
        </p:txBody>
      </p:sp>
      <p:sp>
        <p:nvSpPr>
          <p:cNvPr id="23" name="Shape 19"/>
          <p:cNvSpPr/>
          <p:nvPr/>
        </p:nvSpPr>
        <p:spPr>
          <a:xfrm>
            <a:off x="1874520" y="2706624"/>
            <a:ext cx="4754880" cy="457200"/>
          </a:xfrm>
          <a:prstGeom prst="roundRect">
            <a:avLst>
              <a:gd name="adj" fmla="val 16000"/>
            </a:avLst>
          </a:prstGeom>
          <a:solidFill>
            <a:srgbClr val="FFFFFF">
              <a:alpha val="85000"/>
            </a:srgbClr>
          </a:solidFill>
          <a:ln w="6350">
            <a:solidFill>
              <a:srgbClr val="E0D5C8"/>
            </a:solidFill>
            <a:prstDash val="solid"/>
          </a:ln>
          <a:effectLst>
            <a:outerShdw sx="100000" sy="100000" kx="0" ky="0" algn="bl" rotWithShape="0" blurRad="8193532000000" dist="3072574500000" dir="29160000000000000">
              <a:srgbClr val="000000">
                <a:alpha val="80000000000000"/>
              </a:srgbClr>
            </a:outerShdw>
          </a:effectLst>
        </p:spPr>
      </p:sp>
      <p:sp>
        <p:nvSpPr>
          <p:cNvPr id="24" name="Shape 20"/>
          <p:cNvSpPr/>
          <p:nvPr/>
        </p:nvSpPr>
        <p:spPr>
          <a:xfrm>
            <a:off x="1938528" y="2761488"/>
            <a:ext cx="594360" cy="201168"/>
          </a:xfrm>
          <a:prstGeom prst="roundRect">
            <a:avLst>
              <a:gd name="adj" fmla="val 18182"/>
            </a:avLst>
          </a:prstGeom>
          <a:solidFill>
            <a:srgbClr val="722F37"/>
          </a:solidFill>
          <a:ln w="12700">
            <a:solidFill>
              <a:srgbClr val="333333"/>
            </a:solidFill>
            <a:prstDash val="solid"/>
          </a:ln>
        </p:spPr>
      </p:sp>
      <p:sp>
        <p:nvSpPr>
          <p:cNvPr id="25" name="Text 21"/>
          <p:cNvSpPr/>
          <p:nvPr/>
        </p:nvSpPr>
        <p:spPr>
          <a:xfrm>
            <a:off x="1938528" y="2761488"/>
            <a:ext cx="594360" cy="201168"/>
          </a:xfrm>
          <a:prstGeom prst="rect">
            <a:avLst/>
          </a:prstGeom>
          <a:noFill/>
          <a:ln/>
        </p:spPr>
        <p:txBody>
          <a:bodyPr wrap="square" rtlCol="0" anchor="ctr"/>
          <a:lstStyle/>
          <a:p>
            <a:pPr algn="ctr" indent="0" marL="0">
              <a:buNone/>
            </a:pPr>
            <a:r>
              <a:rPr lang="en-US" sz="850" b="1" dirty="0">
                <a:solidFill>
                  <a:srgbClr val="FFFFFF"/>
                </a:solidFill>
                <a:latin typeface="맑은 고딕" pitchFamily="34" charset="0"/>
                <a:ea typeface="맑은 고딕" pitchFamily="34" charset="-122"/>
                <a:cs typeface="맑은 고딕" pitchFamily="34" charset="-120"/>
              </a:rPr>
              <a:t> 빈티지 </a:t>
            </a:r>
            <a:endParaRPr lang="en-US" sz="850" dirty="0"/>
          </a:p>
        </p:txBody>
      </p:sp>
      <p:sp>
        <p:nvSpPr>
          <p:cNvPr id="26" name="Text 22"/>
          <p:cNvSpPr/>
          <p:nvPr/>
        </p:nvSpPr>
        <p:spPr>
          <a:xfrm>
            <a:off x="2606040" y="2724912"/>
            <a:ext cx="685800" cy="256032"/>
          </a:xfrm>
          <a:prstGeom prst="rect">
            <a:avLst/>
          </a:prstGeom>
          <a:noFill/>
          <a:ln/>
        </p:spPr>
        <p:txBody>
          <a:bodyPr wrap="square" rtlCol="0" anchor="ctr"/>
          <a:lstStyle/>
          <a:p>
            <a:pPr indent="0" marL="0">
              <a:buNone/>
            </a:pPr>
            <a:r>
              <a:rPr lang="en-US" sz="1300" b="1" dirty="0">
                <a:solidFill>
                  <a:srgbClr val="722F37"/>
                </a:solidFill>
                <a:latin typeface="맑은 고딕" pitchFamily="34" charset="0"/>
                <a:ea typeface="맑은 고딕" pitchFamily="34" charset="-122"/>
                <a:cs typeface="맑은 고딕" pitchFamily="34" charset="-120"/>
              </a:rPr>
              <a:t>2021</a:t>
            </a:r>
            <a:endParaRPr lang="en-US" sz="1300" dirty="0"/>
          </a:p>
        </p:txBody>
      </p:sp>
      <p:sp>
        <p:nvSpPr>
          <p:cNvPr id="27" name="Text 23"/>
          <p:cNvSpPr/>
          <p:nvPr/>
        </p:nvSpPr>
        <p:spPr>
          <a:xfrm>
            <a:off x="3337560" y="2743200"/>
            <a:ext cx="3200400" cy="365760"/>
          </a:xfrm>
          <a:prstGeom prst="rect">
            <a:avLst/>
          </a:prstGeom>
          <a:noFill/>
          <a:ln/>
        </p:spPr>
        <p:txBody>
          <a:bodyPr wrap="square" rtlCol="0" anchor="t"/>
          <a:lstStyle/>
          <a:p>
            <a:pPr indent="0" marL="0">
              <a:buNone/>
            </a:pPr>
            <a:r>
              <a:rPr lang="en-US" sz="800" dirty="0">
                <a:solidFill>
                  <a:srgbClr val="5A5A5A"/>
                </a:solidFill>
                <a:latin typeface="맑은 고딕" pitchFamily="34" charset="0"/>
                <a:ea typeface="맑은 고딕" pitchFamily="34" charset="-122"/>
                <a:cs typeface="맑은 고딕" pitchFamily="34" charset="-120"/>
              </a:rPr>
              <a:t>2021년 소노마 코스트는 건조하고 서늘한 기후 조건으로 피노 누아에게 이상적인 빈티지였습니다. 봄철 적당한 강수량과 여름철 안개의 영향으로 포도가 천천히 성숙하여 뛰어난 산도와 농축미를 동시에 갖춘 우수한 품질을 보여줍니다. 특히 향의 복합성과 우아한 구조감이 돋보이는 해로 평가받고 있습니다.</a:t>
            </a:r>
            <a:endParaRPr lang="en-US" sz="800" dirty="0"/>
          </a:p>
        </p:txBody>
      </p:sp>
      <p:sp>
        <p:nvSpPr>
          <p:cNvPr id="28" name="Shape 24"/>
          <p:cNvSpPr/>
          <p:nvPr/>
        </p:nvSpPr>
        <p:spPr>
          <a:xfrm>
            <a:off x="1874520" y="3255264"/>
            <a:ext cx="4754880" cy="1508760"/>
          </a:xfrm>
          <a:prstGeom prst="roundRect">
            <a:avLst>
              <a:gd name="adj" fmla="val 4848"/>
            </a:avLst>
          </a:prstGeom>
          <a:solidFill>
            <a:srgbClr val="FFFFFF">
              <a:alpha val="85000"/>
            </a:srgbClr>
          </a:solidFill>
          <a:ln w="6350">
            <a:solidFill>
              <a:srgbClr val="E0D5C8"/>
            </a:solidFill>
            <a:prstDash val="solid"/>
          </a:ln>
          <a:effectLst>
            <a:outerShdw sx="100000" sy="100000" kx="0" ky="0" algn="bl" rotWithShape="0" blurRad="104057856400000000" dist="39021696150000000" dir="1.7496e+21">
              <a:srgbClr val="000000">
                <a:alpha val="8000000000000000000"/>
              </a:srgbClr>
            </a:outerShdw>
          </a:effectLst>
        </p:spPr>
      </p:sp>
      <p:sp>
        <p:nvSpPr>
          <p:cNvPr id="29" name="Shape 25"/>
          <p:cNvSpPr/>
          <p:nvPr/>
        </p:nvSpPr>
        <p:spPr>
          <a:xfrm>
            <a:off x="1938528" y="3310128"/>
            <a:ext cx="502920" cy="201168"/>
          </a:xfrm>
          <a:prstGeom prst="roundRect">
            <a:avLst>
              <a:gd name="adj" fmla="val 18182"/>
            </a:avLst>
          </a:prstGeom>
          <a:solidFill>
            <a:srgbClr val="722F37"/>
          </a:solidFill>
          <a:ln w="12700">
            <a:solidFill>
              <a:srgbClr val="333333"/>
            </a:solidFill>
            <a:prstDash val="solid"/>
          </a:ln>
        </p:spPr>
      </p:sp>
      <p:sp>
        <p:nvSpPr>
          <p:cNvPr id="30" name="Text 26"/>
          <p:cNvSpPr/>
          <p:nvPr/>
        </p:nvSpPr>
        <p:spPr>
          <a:xfrm>
            <a:off x="1938528" y="3310128"/>
            <a:ext cx="502920" cy="201168"/>
          </a:xfrm>
          <a:prstGeom prst="rect">
            <a:avLst/>
          </a:prstGeom>
          <a:noFill/>
          <a:ln/>
        </p:spPr>
        <p:txBody>
          <a:bodyPr wrap="square" rtlCol="0" anchor="ctr"/>
          <a:lstStyle/>
          <a:p>
            <a:pPr algn="ctr" indent="0" marL="0">
              <a:buNone/>
            </a:pPr>
            <a:r>
              <a:rPr lang="en-US" sz="850" b="1" dirty="0">
                <a:solidFill>
                  <a:srgbClr val="FFFFFF"/>
                </a:solidFill>
                <a:latin typeface="맑은 고딕" pitchFamily="34" charset="0"/>
                <a:ea typeface="맑은 고딕" pitchFamily="34" charset="-122"/>
                <a:cs typeface="맑은 고딕" pitchFamily="34" charset="-120"/>
              </a:rPr>
              <a:t>  양조  </a:t>
            </a:r>
            <a:endParaRPr lang="en-US" sz="850" dirty="0"/>
          </a:p>
        </p:txBody>
      </p:sp>
      <p:sp>
        <p:nvSpPr>
          <p:cNvPr id="31" name="Text 27"/>
          <p:cNvSpPr/>
          <p:nvPr/>
        </p:nvSpPr>
        <p:spPr>
          <a:xfrm>
            <a:off x="1965960" y="3566160"/>
            <a:ext cx="4572000" cy="1124712"/>
          </a:xfrm>
          <a:prstGeom prst="rect">
            <a:avLst/>
          </a:prstGeom>
          <a:noFill/>
          <a:ln/>
        </p:spPr>
        <p:txBody>
          <a:bodyPr wrap="square" rtlCol="0" anchor="t"/>
          <a:lstStyle/>
          <a:p>
            <a:pPr indent="0" marL="0">
              <a:lnSpc>
                <a:spcPct val="120000"/>
              </a:lnSpc>
              <a:buNone/>
            </a:pPr>
            <a:r>
              <a:rPr lang="en-US" sz="900" dirty="0">
                <a:solidFill>
                  <a:srgbClr val="2C2C2C"/>
                </a:solidFill>
                <a:latin typeface="맑은 고딕" pitchFamily="34" charset="0"/>
                <a:ea typeface="맑은 고딕" pitchFamily="34" charset="-122"/>
                <a:cs typeface="맑은 고딕" pitchFamily="34" charset="-120"/>
              </a:rPr>
              <a:t>태평양 연안의 서늘한 기후에서 천천히 익은 피노 누아를 손으로 수확하여 작은 발효조에서 천연 효모로 발효합니다. 발효 과정에서 적절한 추출을 위해 펀치다운과 펌프오버를 신중하게 진행하며, 프렌치 오크통(30% 신통)에서 약 10-12개월 숙성시켜 복합미와 구조감을 완성합니다.</a:t>
            </a:r>
            <a:endParaRPr lang="en-US" sz="900" dirty="0"/>
          </a:p>
          <a:p>
            <a:pPr indent="0" marL="0">
              <a:lnSpc>
                <a:spcPct val="120000"/>
              </a:lnSpc>
              <a:buNone/>
            </a:pPr>
            <a:r>
              <a:rPr lang="en-US" sz="900" dirty="0">
                <a:solidFill>
                  <a:srgbClr val="2C2C2C"/>
                </a:solidFill>
                <a:latin typeface="맑은 고딕" pitchFamily="34" charset="0"/>
                <a:ea typeface="맑은 고딕" pitchFamily="34" charset="-122"/>
                <a:cs typeface="맑은 고딕" pitchFamily="34" charset="-120"/>
              </a:rPr>
              <a:t>알코올: 13.5%</a:t>
            </a:r>
            <a:endParaRPr lang="en-US" sz="900" dirty="0"/>
          </a:p>
        </p:txBody>
      </p:sp>
      <p:sp>
        <p:nvSpPr>
          <p:cNvPr id="32" name="Shape 28"/>
          <p:cNvSpPr/>
          <p:nvPr/>
        </p:nvSpPr>
        <p:spPr>
          <a:xfrm>
            <a:off x="1874520" y="4846320"/>
            <a:ext cx="4754880" cy="2487168"/>
          </a:xfrm>
          <a:prstGeom prst="roundRect">
            <a:avLst>
              <a:gd name="adj" fmla="val 2941"/>
            </a:avLst>
          </a:prstGeom>
          <a:solidFill>
            <a:srgbClr val="F2E8EA">
              <a:alpha val="70000"/>
            </a:srgbClr>
          </a:solidFill>
          <a:ln w="6350">
            <a:solidFill>
              <a:srgbClr val="E0D5C8"/>
            </a:solidFill>
            <a:prstDash val="solid"/>
          </a:ln>
          <a:effectLst>
            <a:outerShdw sx="100000" sy="100000" kx="0" ky="0" algn="bl" rotWithShape="0" blurRad="1.32153477628e+21" dist="495575541105000000000" dir="1.04976e+26">
              <a:srgbClr val="000000">
                <a:alpha val="8e+23"/>
              </a:srgbClr>
            </a:outerShdw>
          </a:effectLst>
        </p:spPr>
      </p:sp>
      <p:sp>
        <p:nvSpPr>
          <p:cNvPr id="33" name="Shape 29"/>
          <p:cNvSpPr/>
          <p:nvPr/>
        </p:nvSpPr>
        <p:spPr>
          <a:xfrm>
            <a:off x="1938528" y="4892040"/>
            <a:ext cx="1207008" cy="201168"/>
          </a:xfrm>
          <a:prstGeom prst="roundRect">
            <a:avLst>
              <a:gd name="adj" fmla="val 18182"/>
            </a:avLst>
          </a:prstGeom>
          <a:solidFill>
            <a:srgbClr val="722F37"/>
          </a:solidFill>
          <a:ln w="12700">
            <a:solidFill>
              <a:srgbClr val="333333"/>
            </a:solidFill>
            <a:prstDash val="solid"/>
          </a:ln>
        </p:spPr>
      </p:sp>
      <p:sp>
        <p:nvSpPr>
          <p:cNvPr id="34" name="Text 30"/>
          <p:cNvSpPr/>
          <p:nvPr/>
        </p:nvSpPr>
        <p:spPr>
          <a:xfrm>
            <a:off x="1938528" y="4892040"/>
            <a:ext cx="1207008" cy="201168"/>
          </a:xfrm>
          <a:prstGeom prst="rect">
            <a:avLst/>
          </a:prstGeom>
          <a:noFill/>
          <a:ln/>
        </p:spPr>
        <p:txBody>
          <a:bodyPr wrap="square" rtlCol="0" anchor="ctr"/>
          <a:lstStyle/>
          <a:p>
            <a:pPr algn="ctr" indent="0" marL="0">
              <a:buNone/>
            </a:pPr>
            <a:r>
              <a:rPr lang="en-US" sz="750" b="1" dirty="0">
                <a:solidFill>
                  <a:srgbClr val="FFFFFF"/>
                </a:solidFill>
                <a:latin typeface="Noto Sans KR" pitchFamily="34" charset="0"/>
                <a:ea typeface="Noto Sans KR" pitchFamily="34" charset="-122"/>
                <a:cs typeface="Noto Sans KR" pitchFamily="34" charset="-120"/>
              </a:rPr>
              <a:t>  TASTING NOTE  </a:t>
            </a:r>
            <a:endParaRPr lang="en-US" sz="750" dirty="0"/>
          </a:p>
        </p:txBody>
      </p:sp>
      <p:sp>
        <p:nvSpPr>
          <p:cNvPr id="35" name="Text 31"/>
          <p:cNvSpPr/>
          <p:nvPr/>
        </p:nvSpPr>
        <p:spPr>
          <a:xfrm>
            <a:off x="1965960" y="5138928"/>
            <a:ext cx="4572000" cy="2121408"/>
          </a:xfrm>
          <a:prstGeom prst="rect">
            <a:avLst/>
          </a:prstGeom>
          <a:noFill/>
          <a:ln/>
        </p:spPr>
        <p:txBody>
          <a:bodyPr wrap="square" rtlCol="0" anchor="t"/>
          <a:lstStyle/>
          <a:p>
            <a:pPr indent="0" marL="0">
              <a:lnSpc>
                <a:spcPct val="115000"/>
              </a:lnSpc>
              <a:buNone/>
            </a:pPr>
            <a:r>
              <a:rPr lang="en-US" sz="850" b="1" dirty="0">
                <a:solidFill>
                  <a:srgbClr val="722F37"/>
                </a:solidFill>
                <a:latin typeface="Noto Sans KR" pitchFamily="34" charset="0"/>
                <a:ea typeface="Noto Sans KR" pitchFamily="34" charset="-122"/>
                <a:cs typeface="Noto Sans KR" pitchFamily="34" charset="-120"/>
              </a:rPr>
              <a:t>Color</a:t>
            </a:r>
            <a:pPr indent="0" marL="0">
              <a:lnSpc>
                <a:spcPct val="115000"/>
              </a:lnSpc>
              <a:buNone/>
            </a:pPr>
            <a:endParaRPr lang="en-US" sz="850" dirty="0"/>
          </a:p>
          <a:p>
            <a:pPr indent="0" marL="0">
              <a:lnSpc>
                <a:spcPct val="115000"/>
              </a:lnSpc>
              <a:buNone/>
            </a:pPr>
            <a:r>
              <a:rPr lang="en-US" sz="900" dirty="0">
                <a:solidFill>
                  <a:srgbClr val="2C2C2C"/>
                </a:solidFill>
                <a:latin typeface="맑은 고딕" pitchFamily="34" charset="0"/>
                <a:ea typeface="맑은 고딕" pitchFamily="34" charset="-122"/>
                <a:cs typeface="맑은 고딕" pitchFamily="34" charset="-120"/>
              </a:rPr>
              <a:t>중간 정도의 루비 레드 컬러로 가장자리에 석류빛 뉘앙스가 감돌며, 글라스에서 우아한 투명도를 보여줍니다.</a:t>
            </a:r>
            <a:endParaRPr lang="en-US" sz="850" dirty="0"/>
          </a:p>
          <a:p>
            <a:pPr indent="0" marL="0">
              <a:lnSpc>
                <a:spcPct val="115000"/>
              </a:lnSpc>
              <a:spcBef>
                <a:spcPts val="600"/>
              </a:spcBef>
              <a:buNone/>
            </a:pPr>
            <a:r>
              <a:rPr lang="en-US" sz="850" b="1" dirty="0">
                <a:solidFill>
                  <a:srgbClr val="722F37"/>
                </a:solidFill>
                <a:latin typeface="Noto Sans KR" pitchFamily="34" charset="0"/>
                <a:ea typeface="Noto Sans KR" pitchFamily="34" charset="-122"/>
                <a:cs typeface="Noto Sans KR" pitchFamily="34" charset="-120"/>
              </a:rPr>
              <a:t>Nose</a:t>
            </a:r>
            <a:pPr indent="0" marL="0">
              <a:lnSpc>
                <a:spcPct val="115000"/>
              </a:lnSpc>
              <a:buNone/>
            </a:pPr>
            <a:endParaRPr lang="en-US" sz="850" dirty="0"/>
          </a:p>
          <a:p>
            <a:pPr indent="0" marL="0">
              <a:lnSpc>
                <a:spcPct val="115000"/>
              </a:lnSpc>
              <a:buNone/>
            </a:pPr>
            <a:r>
              <a:rPr lang="en-US" sz="900" dirty="0">
                <a:solidFill>
                  <a:srgbClr val="2C2C2C"/>
                </a:solidFill>
                <a:latin typeface="맑은 고딕" pitchFamily="34" charset="0"/>
                <a:ea typeface="맑은 고딕" pitchFamily="34" charset="-122"/>
                <a:cs typeface="맑은 고딕" pitchFamily="34" charset="-120"/>
              </a:rPr>
              <a:t>잘 익은 자두와 체리의 붉은 과실 향이 주도하며, 장미와 제비꽃의 플로럴 노트가 우아하게 어우러집니다. 코라 너트, 오렌지 제스트, 바닐라빈, 베이킹 스파이스의 복합적인 향이 뒤따르며, 이끼와 로즈마리의 허브 향이 테루아의 개성을 더합니다.</a:t>
            </a:r>
            <a:endParaRPr lang="en-US" sz="850" dirty="0"/>
          </a:p>
          <a:p>
            <a:pPr indent="0" marL="0">
              <a:lnSpc>
                <a:spcPct val="115000"/>
              </a:lnSpc>
              <a:spcBef>
                <a:spcPts val="600"/>
              </a:spcBef>
              <a:buNone/>
            </a:pPr>
            <a:r>
              <a:rPr lang="en-US" sz="850" b="1" dirty="0">
                <a:solidFill>
                  <a:srgbClr val="722F37"/>
                </a:solidFill>
                <a:latin typeface="Noto Sans KR" pitchFamily="34" charset="0"/>
                <a:ea typeface="Noto Sans KR" pitchFamily="34" charset="-122"/>
                <a:cs typeface="Noto Sans KR" pitchFamily="34" charset="-120"/>
              </a:rPr>
              <a:t>Palate</a:t>
            </a:r>
            <a:pPr indent="0" marL="0">
              <a:lnSpc>
                <a:spcPct val="115000"/>
              </a:lnSpc>
              <a:buNone/>
            </a:pPr>
            <a:endParaRPr lang="en-US" sz="850" dirty="0"/>
          </a:p>
          <a:p>
            <a:pPr indent="0" marL="0">
              <a:lnSpc>
                <a:spcPct val="115000"/>
              </a:lnSpc>
              <a:buNone/>
            </a:pPr>
            <a:r>
              <a:rPr lang="en-US" sz="900" dirty="0">
                <a:solidFill>
                  <a:srgbClr val="2C2C2C"/>
                </a:solidFill>
                <a:latin typeface="맑은 고딕" pitchFamily="34" charset="0"/>
                <a:ea typeface="맑은 고딕" pitchFamily="34" charset="-122"/>
                <a:cs typeface="맑은 고딕" pitchFamily="34" charset="-120"/>
              </a:rPr>
              <a:t>미디엄 바디의 균형잡힌 구조감으로 입안에서 육즙이 풍부한 파인 타닌과 생생한 산도가 조화를 이룹니다. 붉은 과실과 검은 과실이 어우러진 과실미에 말린 허브, 그라운드 스파이스, 말린 장미의 복합미가 층층이 펼쳐지며, 숲의 특성인 나무껍질과 이끼 향이 깊이를 더합니다.</a:t>
            </a:r>
            <a:endParaRPr lang="en-US" sz="850" dirty="0"/>
          </a:p>
          <a:p>
            <a:pPr indent="0" marL="0">
              <a:lnSpc>
                <a:spcPct val="115000"/>
              </a:lnSpc>
              <a:spcBef>
                <a:spcPts val="600"/>
              </a:spcBef>
              <a:buNone/>
            </a:pPr>
            <a:r>
              <a:rPr lang="en-US" sz="850" b="1" dirty="0">
                <a:solidFill>
                  <a:srgbClr val="722F37"/>
                </a:solidFill>
                <a:latin typeface="Noto Sans KR" pitchFamily="34" charset="0"/>
                <a:ea typeface="Noto Sans KR" pitchFamily="34" charset="-122"/>
                <a:cs typeface="Noto Sans KR" pitchFamily="34" charset="-120"/>
              </a:rPr>
              <a:t>Potential</a:t>
            </a:r>
            <a:pPr indent="0" marL="0">
              <a:lnSpc>
                <a:spcPct val="115000"/>
              </a:lnSpc>
              <a:buNone/>
            </a:pPr>
            <a:endParaRPr lang="en-US" sz="850" dirty="0"/>
          </a:p>
          <a:p>
            <a:pPr indent="0" marL="0">
              <a:lnSpc>
                <a:spcPct val="115000"/>
              </a:lnSpc>
              <a:buNone/>
            </a:pPr>
            <a:r>
              <a:rPr lang="en-US" sz="900" dirty="0">
                <a:solidFill>
                  <a:srgbClr val="2C2C2C"/>
                </a:solidFill>
                <a:latin typeface="맑은 고딕" pitchFamily="34" charset="0"/>
                <a:ea typeface="맑은 고딕" pitchFamily="34" charset="-122"/>
                <a:cs typeface="맑은 고딕" pitchFamily="34" charset="-120"/>
              </a:rPr>
              <a:t>현재 마실 수 있지만 2025년 이후부터 본격적인 매력을 발휘하며, 적절한 보관 조건에서 7-10년간 숙성 가능합니다.</a:t>
            </a:r>
            <a:endParaRPr lang="en-US" sz="850" dirty="0"/>
          </a:p>
          <a:p>
            <a:pPr indent="0" marL="0">
              <a:lnSpc>
                <a:spcPct val="115000"/>
              </a:lnSpc>
              <a:spcBef>
                <a:spcPts val="600"/>
              </a:spcBef>
              <a:buNone/>
            </a:pPr>
            <a:r>
              <a:rPr lang="en-US" sz="850" b="1" dirty="0">
                <a:solidFill>
                  <a:srgbClr val="722F37"/>
                </a:solidFill>
                <a:latin typeface="Noto Sans KR" pitchFamily="34" charset="0"/>
                <a:ea typeface="Noto Sans KR" pitchFamily="34" charset="-122"/>
                <a:cs typeface="Noto Sans KR" pitchFamily="34" charset="-120"/>
              </a:rPr>
              <a:t>Serving</a:t>
            </a:r>
            <a:pPr indent="0" marL="0">
              <a:lnSpc>
                <a:spcPct val="115000"/>
              </a:lnSpc>
              <a:buNone/>
            </a:pPr>
            <a:endParaRPr lang="en-US" sz="850" dirty="0"/>
          </a:p>
          <a:p>
            <a:pPr indent="0" marL="0">
              <a:lnSpc>
                <a:spcPct val="115000"/>
              </a:lnSpc>
              <a:buNone/>
            </a:pPr>
            <a:r>
              <a:rPr lang="en-US" sz="900" dirty="0">
                <a:solidFill>
                  <a:srgbClr val="2C2C2C"/>
                </a:solidFill>
                <a:latin typeface="맑은 고딕" pitchFamily="34" charset="0"/>
                <a:ea typeface="맑은 고딕" pitchFamily="34" charset="-122"/>
                <a:cs typeface="맑은 고딕" pitchFamily="34" charset="-120"/>
              </a:rPr>
              <a:t>16-18°C</a:t>
            </a:r>
            <a:endParaRPr lang="en-US" sz="850" dirty="0"/>
          </a:p>
        </p:txBody>
      </p:sp>
      <p:sp>
        <p:nvSpPr>
          <p:cNvPr id="36" name="Shape 32"/>
          <p:cNvSpPr/>
          <p:nvPr/>
        </p:nvSpPr>
        <p:spPr>
          <a:xfrm>
            <a:off x="1874520" y="7424928"/>
            <a:ext cx="4754880" cy="731520"/>
          </a:xfrm>
          <a:prstGeom prst="roundRect">
            <a:avLst>
              <a:gd name="adj" fmla="val 10000"/>
            </a:avLst>
          </a:prstGeom>
          <a:solidFill>
            <a:srgbClr val="FFFFFF">
              <a:alpha val="85000"/>
            </a:srgbClr>
          </a:solidFill>
          <a:ln w="6350">
            <a:solidFill>
              <a:srgbClr val="E0D5C8"/>
            </a:solidFill>
            <a:prstDash val="solid"/>
          </a:ln>
          <a:effectLst>
            <a:outerShdw sx="100000" sy="100000" kx="0" ky="0" algn="bl" rotWithShape="0" blurRad="1.6783491658756e+25" dist="6.2938093720335e+24" dir="6.29856e+30">
              <a:srgbClr val="000000">
                <a:alpha val="8e+28"/>
              </a:srgbClr>
            </a:outerShdw>
          </a:effectLst>
        </p:spPr>
      </p:sp>
      <p:sp>
        <p:nvSpPr>
          <p:cNvPr id="37" name="Shape 33"/>
          <p:cNvSpPr/>
          <p:nvPr/>
        </p:nvSpPr>
        <p:spPr>
          <a:xfrm>
            <a:off x="1938528" y="7479792"/>
            <a:ext cx="868680" cy="201168"/>
          </a:xfrm>
          <a:prstGeom prst="roundRect">
            <a:avLst>
              <a:gd name="adj" fmla="val 18182"/>
            </a:avLst>
          </a:prstGeom>
          <a:solidFill>
            <a:srgbClr val="722F37"/>
          </a:solidFill>
          <a:ln w="12700">
            <a:solidFill>
              <a:srgbClr val="333333"/>
            </a:solidFill>
            <a:prstDash val="solid"/>
          </a:ln>
        </p:spPr>
      </p:sp>
      <p:sp>
        <p:nvSpPr>
          <p:cNvPr id="38" name="Text 34"/>
          <p:cNvSpPr/>
          <p:nvPr/>
        </p:nvSpPr>
        <p:spPr>
          <a:xfrm>
            <a:off x="1938528" y="7479792"/>
            <a:ext cx="868680" cy="201168"/>
          </a:xfrm>
          <a:prstGeom prst="rect">
            <a:avLst/>
          </a:prstGeom>
          <a:noFill/>
          <a:ln/>
        </p:spPr>
        <p:txBody>
          <a:bodyPr wrap="square" rtlCol="0" anchor="ctr"/>
          <a:lstStyle/>
          <a:p>
            <a:pPr algn="ctr" indent="0" marL="0">
              <a:buNone/>
            </a:pPr>
            <a:r>
              <a:rPr lang="en-US" sz="850" b="1" dirty="0">
                <a:solidFill>
                  <a:srgbClr val="FFFFFF"/>
                </a:solidFill>
                <a:latin typeface="맑은 고딕" pitchFamily="34" charset="0"/>
                <a:ea typeface="맑은 고딕" pitchFamily="34" charset="-122"/>
                <a:cs typeface="맑은 고딕" pitchFamily="34" charset="-120"/>
              </a:rPr>
              <a:t>푸드 페어링</a:t>
            </a:r>
            <a:endParaRPr lang="en-US" sz="850" dirty="0"/>
          </a:p>
        </p:txBody>
      </p:sp>
      <p:sp>
        <p:nvSpPr>
          <p:cNvPr id="39" name="Text 35"/>
          <p:cNvSpPr/>
          <p:nvPr/>
        </p:nvSpPr>
        <p:spPr>
          <a:xfrm>
            <a:off x="1965960" y="7699248"/>
            <a:ext cx="4572000" cy="402336"/>
          </a:xfrm>
          <a:prstGeom prst="rect">
            <a:avLst/>
          </a:prstGeom>
          <a:noFill/>
          <a:ln/>
        </p:spPr>
        <p:txBody>
          <a:bodyPr wrap="square" rtlCol="0" anchor="t"/>
          <a:lstStyle/>
          <a:p>
            <a:pPr indent="0" marL="0">
              <a:lnSpc>
                <a:spcPct val="120000"/>
              </a:lnSpc>
              <a:buNone/>
            </a:pPr>
            <a:r>
              <a:rPr lang="en-US" sz="900" dirty="0">
                <a:solidFill>
                  <a:srgbClr val="2C2C2C"/>
                </a:solidFill>
                <a:latin typeface="맑은 고딕" pitchFamily="34" charset="0"/>
                <a:ea typeface="맑은 고딕" pitchFamily="34" charset="-122"/>
                <a:cs typeface="맑은 고딕" pitchFamily="34" charset="-120"/>
              </a:rPr>
              <a:t>버섯 리조또, 로스트 덕, 연어 스테이크, 한우 불고기, 송이버섯 요리, 숙성 치즈</a:t>
            </a:r>
            <a:endParaRPr lang="en-US" sz="900" dirty="0"/>
          </a:p>
        </p:txBody>
      </p:sp>
      <p:sp>
        <p:nvSpPr>
          <p:cNvPr id="40" name="Shape 36"/>
          <p:cNvSpPr/>
          <p:nvPr/>
        </p:nvSpPr>
        <p:spPr>
          <a:xfrm>
            <a:off x="137160" y="8266176"/>
            <a:ext cx="6583680" cy="347472"/>
          </a:xfrm>
          <a:prstGeom prst="roundRect">
            <a:avLst>
              <a:gd name="adj" fmla="val 10526"/>
            </a:avLst>
          </a:prstGeom>
          <a:solidFill>
            <a:srgbClr val="B8976A">
              <a:alpha val="15000"/>
            </a:srgbClr>
          </a:solidFill>
          <a:ln w="6350">
            <a:solidFill>
              <a:srgbClr val="D4C4A8"/>
            </a:solidFill>
            <a:prstDash val="solid"/>
          </a:ln>
        </p:spPr>
      </p:sp>
      <p:pic>
        <p:nvPicPr>
          <p:cNvPr id="41" name="Image 2" descr="preencoded.png">    </p:cNvPr>
          <p:cNvPicPr>
            <a:picLocks noChangeAspect="1"/>
          </p:cNvPicPr>
          <p:nvPr/>
        </p:nvPicPr>
        <p:blipFill>
          <a:blip r:embed="rId3"/>
          <a:stretch>
            <a:fillRect/>
          </a:stretch>
        </p:blipFill>
        <p:spPr>
          <a:xfrm>
            <a:off x="228600" y="8302752"/>
            <a:ext cx="201168" cy="256032"/>
          </a:xfrm>
          <a:prstGeom prst="rect">
            <a:avLst/>
          </a:prstGeom>
        </p:spPr>
      </p:pic>
      <p:sp>
        <p:nvSpPr>
          <p:cNvPr id="42" name="Text 37"/>
          <p:cNvSpPr/>
          <p:nvPr/>
        </p:nvSpPr>
        <p:spPr>
          <a:xfrm>
            <a:off x="475488" y="8293608"/>
            <a:ext cx="6126480" cy="274320"/>
          </a:xfrm>
          <a:prstGeom prst="rect">
            <a:avLst/>
          </a:prstGeom>
          <a:noFill/>
          <a:ln/>
        </p:spPr>
        <p:txBody>
          <a:bodyPr wrap="square" rtlCol="0" anchor="ctr"/>
          <a:lstStyle/>
          <a:p>
            <a:pPr indent="0" marL="0">
              <a:buNone/>
            </a:pPr>
            <a:r>
              <a:rPr lang="en-US" sz="800" b="1" dirty="0">
                <a:solidFill>
                  <a:srgbClr val="B8976A"/>
                </a:solidFill>
                <a:latin typeface="Noto Sans KR" pitchFamily="34" charset="0"/>
                <a:ea typeface="Noto Sans KR" pitchFamily="34" charset="-122"/>
                <a:cs typeface="Noto Sans KR" pitchFamily="34" charset="-120"/>
              </a:rPr>
              <a:t>AWARDS  </a:t>
            </a:r>
            <a:pPr indent="0" marL="0">
              <a:buNone/>
            </a:pPr>
            <a:r>
              <a:rPr lang="en-US" sz="900" dirty="0">
                <a:solidFill>
                  <a:srgbClr val="2C2C2C"/>
                </a:solidFill>
                <a:latin typeface="맑은 고딕" pitchFamily="34" charset="0"/>
                <a:ea typeface="맑은 고딕" pitchFamily="34" charset="-122"/>
                <a:cs typeface="맑은 고딕" pitchFamily="34" charset="-120"/>
              </a:rPr>
              <a:t>James Suckling 높은 평점 (multiple vintages rated highly)</a:t>
            </a:r>
            <a:endParaRPr lang="en-US" sz="800" dirty="0"/>
          </a:p>
        </p:txBody>
      </p:sp>
      <p:sp>
        <p:nvSpPr>
          <p:cNvPr id="43" name="Shape 38"/>
          <p:cNvSpPr/>
          <p:nvPr/>
        </p:nvSpPr>
        <p:spPr>
          <a:xfrm>
            <a:off x="182880" y="8705088"/>
            <a:ext cx="6492240" cy="0"/>
          </a:xfrm>
          <a:prstGeom prst="line">
            <a:avLst/>
          </a:prstGeom>
          <a:noFill/>
          <a:ln w="25400">
            <a:solidFill>
              <a:srgbClr val="722F37"/>
            </a:solidFill>
            <a:prstDash val="solid"/>
          </a:ln>
        </p:spPr>
      </p:sp>
      <p:sp>
        <p:nvSpPr>
          <p:cNvPr id="44" name="Shape 39"/>
          <p:cNvSpPr/>
          <p:nvPr/>
        </p:nvSpPr>
        <p:spPr>
          <a:xfrm>
            <a:off x="182880" y="8732520"/>
            <a:ext cx="6492240" cy="0"/>
          </a:xfrm>
          <a:prstGeom prst="line">
            <a:avLst/>
          </a:prstGeom>
          <a:noFill/>
          <a:ln w="9525">
            <a:solidFill>
              <a:srgbClr val="D4C4A8"/>
            </a:solidFill>
            <a:prstDash val="solid"/>
          </a:ln>
        </p:spPr>
      </p:sp>
      <p:pic>
        <p:nvPicPr>
          <p:cNvPr id="45" name="Image 3" descr="preencoded.png">    </p:cNvPr>
          <p:cNvPicPr>
            <a:picLocks noChangeAspect="1"/>
          </p:cNvPicPr>
          <p:nvPr/>
        </p:nvPicPr>
        <p:blipFill>
          <a:blip r:embed="rId4"/>
          <a:stretch>
            <a:fillRect/>
          </a:stretch>
        </p:blipFill>
        <p:spPr>
          <a:xfrm>
            <a:off x="82296" y="8851392"/>
            <a:ext cx="868680" cy="228600"/>
          </a:xfrm>
          <a:prstGeom prst="rect">
            <a:avLst/>
          </a:prstGeom>
        </p:spPr>
      </p:pic>
      <p:sp>
        <p:nvSpPr>
          <p:cNvPr id="46" name="Text 40"/>
          <p:cNvSpPr/>
          <p:nvPr/>
        </p:nvSpPr>
        <p:spPr>
          <a:xfrm>
            <a:off x="1024128" y="8860536"/>
            <a:ext cx="2523744" cy="219456"/>
          </a:xfrm>
          <a:prstGeom prst="rect">
            <a:avLst/>
          </a:prstGeom>
          <a:noFill/>
          <a:ln/>
        </p:spPr>
        <p:txBody>
          <a:bodyPr wrap="square" rtlCol="0" anchor="ctr"/>
          <a:lstStyle/>
          <a:p>
            <a:pPr algn="r" indent="0" marL="0">
              <a:buNone/>
            </a:pPr>
            <a:r>
              <a:rPr lang="en-US" sz="700" dirty="0">
                <a:solidFill>
                  <a:srgbClr val="8A8A8A"/>
                </a:solidFill>
                <a:latin typeface="Noto Sans KR" pitchFamily="34" charset="0"/>
                <a:ea typeface="Noto Sans KR" pitchFamily="34" charset="-122"/>
                <a:cs typeface="Noto Sans KR" pitchFamily="34" charset="-120"/>
              </a:rPr>
              <a:t>T. 02-786-3136  |  www.cavedevin.co.kr</a:t>
            </a:r>
            <a:endParaRPr lang="en-US" sz="700" dirty="0"/>
          </a:p>
        </p:txBody>
      </p:sp>
      <p:sp>
        <p:nvSpPr>
          <p:cNvPr id="47" name="Shape 41"/>
          <p:cNvSpPr/>
          <p:nvPr/>
        </p:nvSpPr>
        <p:spPr>
          <a:xfrm>
            <a:off x="6556248" y="8933688"/>
            <a:ext cx="54864" cy="54864"/>
          </a:xfrm>
          <a:prstGeom prst="diamond">
            <a:avLst/>
          </a:prstGeom>
          <a:solidFill>
            <a:srgbClr val="B8976A"/>
          </a:solidFill>
          <a:ln w="12700">
            <a:solidFill>
              <a:srgbClr val="333333"/>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Tasting Notes</dc:title>
  <dc:subject>PptxGenJS Presentation</dc:subject>
  <dc:creator>까브드뱅 와인 관리 시스템</dc:creator>
  <cp:lastModifiedBy>까브드뱅 와인 관리 시스템</cp:lastModifiedBy>
  <cp:revision>1</cp:revision>
  <dcterms:created xsi:type="dcterms:W3CDTF">2026-02-11T12:52:28Z</dcterms:created>
  <dcterms:modified xsi:type="dcterms:W3CDTF">2026-02-11T12:52:28Z</dcterms:modified>
</cp:coreProperties>
</file>